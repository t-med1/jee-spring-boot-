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p:restoredTop sz="94610"/>
  </p:normalViewPr>
  <p:slideViewPr>
    <p:cSldViewPr snapToGrid="0" snapToObjects="1">
      <p:cViewPr varScale="1">
        <p:scale>
          <a:sx n="121" d="100"/>
          <a:sy n="121" d="100"/>
        </p:scale>
        <p:origin x="39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4613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7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3D1717"/>
          </a:solidFill>
          <a:ln/>
        </p:spPr>
      </p:sp>
      <p:sp>
        <p:nvSpPr>
          <p:cNvPr id="3" name="Shape 1"/>
          <p:cNvSpPr/>
          <p:nvPr/>
        </p:nvSpPr>
        <p:spPr>
          <a:xfrm>
            <a:off x="8778240" y="-2011680"/>
            <a:ext cx="6400800" cy="6400800"/>
          </a:xfrm>
          <a:prstGeom prst="ellipse">
            <a:avLst/>
          </a:prstGeom>
          <a:solidFill>
            <a:srgbClr val="6E2C2C"/>
          </a:solidFill>
          <a:ln/>
        </p:spPr>
      </p:sp>
      <p:sp>
        <p:nvSpPr>
          <p:cNvPr id="4" name="Shape 2"/>
          <p:cNvSpPr/>
          <p:nvPr/>
        </p:nvSpPr>
        <p:spPr>
          <a:xfrm>
            <a:off x="10424160" y="4206240"/>
            <a:ext cx="3657600" cy="3657600"/>
          </a:xfrm>
          <a:prstGeom prst="ellipse">
            <a:avLst/>
          </a:prstGeom>
          <a:solidFill>
            <a:srgbClr val="552121"/>
          </a:solidFill>
          <a:ln/>
        </p:spPr>
      </p:sp>
      <p:sp>
        <p:nvSpPr>
          <p:cNvPr id="5" name="Text 3"/>
          <p:cNvSpPr/>
          <p:nvPr/>
        </p:nvSpPr>
        <p:spPr>
          <a:xfrm>
            <a:off x="822960" y="1417320"/>
            <a:ext cx="9144000" cy="365760"/>
          </a:xfrm>
          <a:prstGeom prst="rect">
            <a:avLst/>
          </a:prstGeom>
          <a:noFill/>
          <a:ln/>
        </p:spPr>
        <p:txBody>
          <a:bodyPr wrap="square" lIns="0" tIns="0" rIns="0" bIns="0" rtlCol="0" anchor="ctr"/>
          <a:lstStyle/>
          <a:p>
            <a:pPr marL="0" indent="0">
              <a:buNone/>
            </a:pPr>
            <a:r>
              <a:rPr lang="en-US" sz="1300" kern="0" spc="200" dirty="0">
                <a:solidFill>
                  <a:srgbClr val="EFE6DD"/>
                </a:solidFill>
                <a:latin typeface="Calibri" pitchFamily="34" charset="0"/>
                <a:ea typeface="Calibri" pitchFamily="34" charset="-122"/>
                <a:cs typeface="Calibri" pitchFamily="34" charset="-120"/>
              </a:rPr>
              <a:t>PROJET DE FIN DE MODULE — FRAMEWORKS JEE / SPRING BOOT</a:t>
            </a:r>
            <a:endParaRPr lang="en-US" sz="1300" dirty="0"/>
          </a:p>
        </p:txBody>
      </p:sp>
      <p:sp>
        <p:nvSpPr>
          <p:cNvPr id="6" name="Text 4"/>
          <p:cNvSpPr/>
          <p:nvPr/>
        </p:nvSpPr>
        <p:spPr>
          <a:xfrm>
            <a:off x="777240" y="1874520"/>
            <a:ext cx="9601200" cy="137160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CitizenConnect</a:t>
            </a:r>
            <a:endParaRPr lang="en-US" sz="6000" dirty="0"/>
          </a:p>
        </p:txBody>
      </p:sp>
      <p:sp>
        <p:nvSpPr>
          <p:cNvPr id="7" name="Text 5"/>
          <p:cNvSpPr/>
          <p:nvPr/>
        </p:nvSpPr>
        <p:spPr>
          <a:xfrm>
            <a:off x="822960" y="3063240"/>
            <a:ext cx="8686800" cy="640080"/>
          </a:xfrm>
          <a:prstGeom prst="rect">
            <a:avLst/>
          </a:prstGeom>
          <a:noFill/>
          <a:ln/>
        </p:spPr>
        <p:txBody>
          <a:bodyPr wrap="square" lIns="0" tIns="0" rIns="0" bIns="0" rtlCol="0" anchor="ctr"/>
          <a:lstStyle/>
          <a:p>
            <a:pPr marL="0" indent="0">
              <a:buNone/>
            </a:pPr>
            <a:r>
              <a:rPr lang="en-US" sz="1900" i="1" dirty="0">
                <a:solidFill>
                  <a:srgbClr val="EFE6DD"/>
                </a:solidFill>
                <a:latin typeface="Calibri" pitchFamily="34" charset="0"/>
                <a:ea typeface="Calibri" pitchFamily="34" charset="-122"/>
                <a:cs typeface="Calibri" pitchFamily="34" charset="-120"/>
              </a:rPr>
              <a:t>Plateforme de gestion des réclamations citoyennes et des demandes de service</a:t>
            </a:r>
            <a:endParaRPr lang="en-US" sz="1900" dirty="0"/>
          </a:p>
        </p:txBody>
      </p:sp>
      <p:sp>
        <p:nvSpPr>
          <p:cNvPr id="8" name="Shape 6"/>
          <p:cNvSpPr/>
          <p:nvPr/>
        </p:nvSpPr>
        <p:spPr>
          <a:xfrm>
            <a:off x="822960" y="3977640"/>
            <a:ext cx="2926080" cy="0"/>
          </a:xfrm>
          <a:prstGeom prst="line">
            <a:avLst/>
          </a:prstGeom>
          <a:noFill/>
          <a:ln w="25400">
            <a:solidFill>
              <a:srgbClr val="B8863F"/>
            </a:solidFill>
            <a:prstDash val="solid"/>
          </a:ln>
        </p:spPr>
      </p:sp>
      <p:sp>
        <p:nvSpPr>
          <p:cNvPr id="9" name="Text 7"/>
          <p:cNvSpPr/>
          <p:nvPr/>
        </p:nvSpPr>
        <p:spPr>
          <a:xfrm>
            <a:off x="822960" y="4251960"/>
            <a:ext cx="7315200" cy="320040"/>
          </a:xfrm>
          <a:prstGeom prst="rect">
            <a:avLst/>
          </a:prstGeom>
          <a:noFill/>
          <a:ln/>
        </p:spPr>
        <p:txBody>
          <a:bodyPr wrap="square" lIns="0" tIns="0" rIns="0" bIns="0" rtlCol="0" anchor="ctr"/>
          <a:lstStyle/>
          <a:p>
            <a:pPr marL="0" indent="0">
              <a:buNone/>
            </a:pPr>
            <a:r>
              <a:rPr lang="en-US" sz="1400" b="1" dirty="0">
                <a:solidFill>
                  <a:srgbClr val="EFE6DD"/>
                </a:solidFill>
                <a:latin typeface="Calibri" pitchFamily="34" charset="0"/>
                <a:ea typeface="Calibri" pitchFamily="34" charset="-122"/>
                <a:cs typeface="Calibri" pitchFamily="34" charset="-120"/>
              </a:rPr>
              <a:t>Réalisé par : </a:t>
            </a:r>
            <a:r>
              <a:rPr lang="en-US" sz="1400" dirty="0">
                <a:solidFill>
                  <a:srgbClr val="FFFFFF"/>
                </a:solidFill>
                <a:latin typeface="Calibri" pitchFamily="34" charset="0"/>
                <a:ea typeface="Calibri" pitchFamily="34" charset="-122"/>
                <a:cs typeface="Calibri" pitchFamily="34" charset="-120"/>
              </a:rPr>
              <a:t>Mohammed </a:t>
            </a:r>
            <a:r>
              <a:rPr lang="en-US" sz="1400" dirty="0" err="1">
                <a:solidFill>
                  <a:srgbClr val="FFFFFF"/>
                </a:solidFill>
                <a:latin typeface="Calibri" pitchFamily="34" charset="0"/>
                <a:ea typeface="Calibri" pitchFamily="34" charset="-122"/>
                <a:cs typeface="Calibri" pitchFamily="34" charset="-120"/>
              </a:rPr>
              <a:t>Telaj</a:t>
            </a:r>
            <a:endParaRPr lang="en-US" sz="1400" dirty="0"/>
          </a:p>
        </p:txBody>
      </p:sp>
      <p:sp>
        <p:nvSpPr>
          <p:cNvPr id="10" name="Text 8"/>
          <p:cNvSpPr/>
          <p:nvPr/>
        </p:nvSpPr>
        <p:spPr>
          <a:xfrm>
            <a:off x="822960" y="4572000"/>
            <a:ext cx="8229600" cy="320040"/>
          </a:xfrm>
          <a:prstGeom prst="rect">
            <a:avLst/>
          </a:prstGeom>
          <a:noFill/>
          <a:ln/>
        </p:spPr>
        <p:txBody>
          <a:bodyPr wrap="square" lIns="0" tIns="0" rIns="0" bIns="0" rtlCol="0" anchor="ctr"/>
          <a:lstStyle/>
          <a:p>
            <a:pPr marL="0" indent="0">
              <a:buNone/>
            </a:pPr>
            <a:r>
              <a:rPr lang="en-US" sz="1400" b="1" dirty="0">
                <a:solidFill>
                  <a:srgbClr val="EFE6DD"/>
                </a:solidFill>
                <a:latin typeface="Calibri" pitchFamily="34" charset="0"/>
                <a:ea typeface="Calibri" pitchFamily="34" charset="-122"/>
                <a:cs typeface="Calibri" pitchFamily="34" charset="-120"/>
              </a:rPr>
              <a:t>Filière : </a:t>
            </a:r>
            <a:r>
              <a:rPr lang="en-US" sz="1400" dirty="0">
                <a:solidFill>
                  <a:srgbClr val="FFFFFF"/>
                </a:solidFill>
                <a:latin typeface="Calibri" pitchFamily="34" charset="0"/>
                <a:ea typeface="Calibri" pitchFamily="34" charset="-122"/>
                <a:cs typeface="Calibri" pitchFamily="34" charset="-120"/>
              </a:rPr>
              <a:t>Licence </a:t>
            </a:r>
            <a:r>
              <a:rPr lang="en-US" sz="1400" dirty="0" err="1">
                <a:solidFill>
                  <a:srgbClr val="FFFFFF"/>
                </a:solidFill>
                <a:latin typeface="Calibri" pitchFamily="34" charset="0"/>
                <a:ea typeface="Calibri" pitchFamily="34" charset="-122"/>
                <a:cs typeface="Calibri" pitchFamily="34" charset="-120"/>
              </a:rPr>
              <a:t>Professionnelle</a:t>
            </a:r>
            <a:r>
              <a:rPr lang="en-US" sz="1400" dirty="0">
                <a:solidFill>
                  <a:srgbClr val="FFFFFF"/>
                </a:solidFill>
                <a:latin typeface="Calibri" pitchFamily="34" charset="0"/>
                <a:ea typeface="Calibri" pitchFamily="34" charset="-122"/>
                <a:cs typeface="Calibri" pitchFamily="34" charset="-120"/>
              </a:rPr>
              <a:t> FDWJEE(PROMO 8) — ENSAF</a:t>
            </a:r>
            <a:endParaRPr lang="en-US" sz="1400" dirty="0"/>
          </a:p>
        </p:txBody>
      </p:sp>
      <p:sp>
        <p:nvSpPr>
          <p:cNvPr id="11" name="Text 9"/>
          <p:cNvSpPr/>
          <p:nvPr/>
        </p:nvSpPr>
        <p:spPr>
          <a:xfrm>
            <a:off x="822960" y="4892040"/>
            <a:ext cx="8229600" cy="320040"/>
          </a:xfrm>
          <a:prstGeom prst="rect">
            <a:avLst/>
          </a:prstGeom>
          <a:noFill/>
          <a:ln/>
        </p:spPr>
        <p:txBody>
          <a:bodyPr wrap="square" lIns="0" tIns="0" rIns="0" bIns="0" rtlCol="0" anchor="ctr"/>
          <a:lstStyle/>
          <a:p>
            <a:pPr marL="0" indent="0">
              <a:buNone/>
            </a:pPr>
            <a:r>
              <a:rPr lang="en-US" sz="1400" b="1" dirty="0">
                <a:solidFill>
                  <a:srgbClr val="EFE6DD"/>
                </a:solidFill>
                <a:latin typeface="Calibri" pitchFamily="34" charset="0"/>
                <a:ea typeface="Calibri" pitchFamily="34" charset="-122"/>
                <a:cs typeface="Calibri" pitchFamily="34" charset="-120"/>
              </a:rPr>
              <a:t>Année universitaire : </a:t>
            </a:r>
            <a:r>
              <a:rPr lang="en-US" sz="1400" dirty="0">
                <a:solidFill>
                  <a:srgbClr val="FFFFFF"/>
                </a:solidFill>
                <a:latin typeface="Calibri" pitchFamily="34" charset="0"/>
                <a:ea typeface="Calibri" pitchFamily="34" charset="-122"/>
                <a:cs typeface="Calibri" pitchFamily="34" charset="-120"/>
              </a:rPr>
              <a:t>2025 /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B8863F"/>
                </a:solidFill>
                <a:latin typeface="Calibri" pitchFamily="34" charset="0"/>
                <a:ea typeface="Calibri" pitchFamily="34" charset="-122"/>
                <a:cs typeface="Calibri" pitchFamily="34" charset="-120"/>
              </a:rPr>
              <a:t>PLAN DE LA PRÉSENTATION</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marL="0" indent="0">
              <a:buNone/>
            </a:pPr>
            <a:r>
              <a:rPr lang="en-US" sz="3000" b="1" dirty="0">
                <a:solidFill>
                  <a:srgbClr val="6E2C2C"/>
                </a:solidFill>
                <a:latin typeface="Cambria" pitchFamily="34" charset="0"/>
                <a:ea typeface="Cambria" pitchFamily="34" charset="-122"/>
                <a:cs typeface="Cambria" pitchFamily="34" charset="-120"/>
              </a:rPr>
              <a:t>Sommaire</a:t>
            </a:r>
            <a:endParaRPr lang="en-US" sz="3000" dirty="0"/>
          </a:p>
        </p:txBody>
      </p:sp>
      <p:sp>
        <p:nvSpPr>
          <p:cNvPr id="4" name="Shape 2"/>
          <p:cNvSpPr/>
          <p:nvPr/>
        </p:nvSpPr>
        <p:spPr>
          <a:xfrm>
            <a:off x="640080" y="1691640"/>
            <a:ext cx="457200" cy="457200"/>
          </a:xfrm>
          <a:prstGeom prst="ellipse">
            <a:avLst/>
          </a:prstGeom>
          <a:solidFill>
            <a:srgbClr val="6E2C2C"/>
          </a:solidFill>
          <a:ln/>
        </p:spPr>
      </p:sp>
      <p:sp>
        <p:nvSpPr>
          <p:cNvPr id="5" name="Text 3"/>
          <p:cNvSpPr/>
          <p:nvPr/>
        </p:nvSpPr>
        <p:spPr>
          <a:xfrm>
            <a:off x="640080" y="16916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325880" y="1673352"/>
            <a:ext cx="4754880" cy="50292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Contexte et problématique</a:t>
            </a:r>
            <a:endParaRPr lang="en-US" sz="1600" dirty="0"/>
          </a:p>
        </p:txBody>
      </p:sp>
      <p:sp>
        <p:nvSpPr>
          <p:cNvPr id="7" name="Shape 5"/>
          <p:cNvSpPr/>
          <p:nvPr/>
        </p:nvSpPr>
        <p:spPr>
          <a:xfrm>
            <a:off x="640080" y="2532888"/>
            <a:ext cx="457200" cy="457200"/>
          </a:xfrm>
          <a:prstGeom prst="ellipse">
            <a:avLst/>
          </a:prstGeom>
          <a:solidFill>
            <a:srgbClr val="6E2C2C"/>
          </a:solidFill>
          <a:ln/>
        </p:spPr>
      </p:sp>
      <p:sp>
        <p:nvSpPr>
          <p:cNvPr id="8" name="Text 6"/>
          <p:cNvSpPr/>
          <p:nvPr/>
        </p:nvSpPr>
        <p:spPr>
          <a:xfrm>
            <a:off x="640080" y="253288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325880" y="2514600"/>
            <a:ext cx="4754880" cy="50292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Objectifs du projet</a:t>
            </a:r>
            <a:endParaRPr lang="en-US" sz="1600" dirty="0"/>
          </a:p>
        </p:txBody>
      </p:sp>
      <p:sp>
        <p:nvSpPr>
          <p:cNvPr id="10" name="Shape 8"/>
          <p:cNvSpPr/>
          <p:nvPr/>
        </p:nvSpPr>
        <p:spPr>
          <a:xfrm>
            <a:off x="640080" y="3374136"/>
            <a:ext cx="457200" cy="457200"/>
          </a:xfrm>
          <a:prstGeom prst="ellipse">
            <a:avLst/>
          </a:prstGeom>
          <a:solidFill>
            <a:srgbClr val="6E2C2C"/>
          </a:solidFill>
          <a:ln/>
        </p:spPr>
      </p:sp>
      <p:sp>
        <p:nvSpPr>
          <p:cNvPr id="11" name="Text 9"/>
          <p:cNvSpPr/>
          <p:nvPr/>
        </p:nvSpPr>
        <p:spPr>
          <a:xfrm>
            <a:off x="640080" y="337413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325880" y="3355848"/>
            <a:ext cx="4754880" cy="50292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Stack technique</a:t>
            </a:r>
            <a:endParaRPr lang="en-US" sz="1600" dirty="0"/>
          </a:p>
        </p:txBody>
      </p:sp>
      <p:sp>
        <p:nvSpPr>
          <p:cNvPr id="13" name="Shape 11"/>
          <p:cNvSpPr/>
          <p:nvPr/>
        </p:nvSpPr>
        <p:spPr>
          <a:xfrm>
            <a:off x="640080" y="4215384"/>
            <a:ext cx="457200" cy="457200"/>
          </a:xfrm>
          <a:prstGeom prst="ellipse">
            <a:avLst/>
          </a:prstGeom>
          <a:solidFill>
            <a:srgbClr val="6E2C2C"/>
          </a:solidFill>
          <a:ln/>
        </p:spPr>
      </p:sp>
      <p:sp>
        <p:nvSpPr>
          <p:cNvPr id="14" name="Text 12"/>
          <p:cNvSpPr/>
          <p:nvPr/>
        </p:nvSpPr>
        <p:spPr>
          <a:xfrm>
            <a:off x="640080" y="421538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1325880" y="4197096"/>
            <a:ext cx="4754880" cy="50292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Architecture en couches</a:t>
            </a:r>
            <a:endParaRPr lang="en-US" sz="1600" dirty="0"/>
          </a:p>
        </p:txBody>
      </p:sp>
      <p:sp>
        <p:nvSpPr>
          <p:cNvPr id="16" name="Shape 14"/>
          <p:cNvSpPr/>
          <p:nvPr/>
        </p:nvSpPr>
        <p:spPr>
          <a:xfrm>
            <a:off x="640080" y="5056632"/>
            <a:ext cx="457200" cy="457200"/>
          </a:xfrm>
          <a:prstGeom prst="ellipse">
            <a:avLst/>
          </a:prstGeom>
          <a:solidFill>
            <a:srgbClr val="6E2C2C"/>
          </a:solidFill>
          <a:ln/>
        </p:spPr>
      </p:sp>
      <p:sp>
        <p:nvSpPr>
          <p:cNvPr id="17" name="Text 15"/>
          <p:cNvSpPr/>
          <p:nvPr/>
        </p:nvSpPr>
        <p:spPr>
          <a:xfrm>
            <a:off x="640080" y="505663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18" name="Text 16"/>
          <p:cNvSpPr/>
          <p:nvPr/>
        </p:nvSpPr>
        <p:spPr>
          <a:xfrm>
            <a:off x="1325880" y="5038344"/>
            <a:ext cx="4754880" cy="50292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Modèle de données</a:t>
            </a:r>
            <a:endParaRPr lang="en-US" sz="1600" dirty="0"/>
          </a:p>
        </p:txBody>
      </p:sp>
      <p:sp>
        <p:nvSpPr>
          <p:cNvPr id="19" name="Shape 17"/>
          <p:cNvSpPr/>
          <p:nvPr/>
        </p:nvSpPr>
        <p:spPr>
          <a:xfrm>
            <a:off x="6309360" y="1691640"/>
            <a:ext cx="457200" cy="457200"/>
          </a:xfrm>
          <a:prstGeom prst="ellipse">
            <a:avLst/>
          </a:prstGeom>
          <a:solidFill>
            <a:srgbClr val="6E2C2C"/>
          </a:solidFill>
          <a:ln/>
        </p:spPr>
      </p:sp>
      <p:sp>
        <p:nvSpPr>
          <p:cNvPr id="20" name="Text 18"/>
          <p:cNvSpPr/>
          <p:nvPr/>
        </p:nvSpPr>
        <p:spPr>
          <a:xfrm>
            <a:off x="6309360" y="16916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1" name="Text 19"/>
          <p:cNvSpPr/>
          <p:nvPr/>
        </p:nvSpPr>
        <p:spPr>
          <a:xfrm>
            <a:off x="6995160" y="1673352"/>
            <a:ext cx="4754880" cy="50292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Rôles et permissions</a:t>
            </a:r>
            <a:endParaRPr lang="en-US" sz="1600" dirty="0"/>
          </a:p>
        </p:txBody>
      </p:sp>
      <p:sp>
        <p:nvSpPr>
          <p:cNvPr id="22" name="Shape 20"/>
          <p:cNvSpPr/>
          <p:nvPr/>
        </p:nvSpPr>
        <p:spPr>
          <a:xfrm>
            <a:off x="6309360" y="2532888"/>
            <a:ext cx="457200" cy="457200"/>
          </a:xfrm>
          <a:prstGeom prst="ellipse">
            <a:avLst/>
          </a:prstGeom>
          <a:solidFill>
            <a:srgbClr val="6E2C2C"/>
          </a:solidFill>
          <a:ln/>
        </p:spPr>
      </p:sp>
      <p:sp>
        <p:nvSpPr>
          <p:cNvPr id="23" name="Text 21"/>
          <p:cNvSpPr/>
          <p:nvPr/>
        </p:nvSpPr>
        <p:spPr>
          <a:xfrm>
            <a:off x="6309360" y="253288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24" name="Text 22"/>
          <p:cNvSpPr/>
          <p:nvPr/>
        </p:nvSpPr>
        <p:spPr>
          <a:xfrm>
            <a:off x="6995160" y="2514600"/>
            <a:ext cx="4754880" cy="50292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Cycle de vie d'une réclamation</a:t>
            </a:r>
            <a:endParaRPr lang="en-US" sz="1600" dirty="0"/>
          </a:p>
        </p:txBody>
      </p:sp>
      <p:sp>
        <p:nvSpPr>
          <p:cNvPr id="25" name="Shape 23"/>
          <p:cNvSpPr/>
          <p:nvPr/>
        </p:nvSpPr>
        <p:spPr>
          <a:xfrm>
            <a:off x="6309360" y="3374136"/>
            <a:ext cx="457200" cy="457200"/>
          </a:xfrm>
          <a:prstGeom prst="ellipse">
            <a:avLst/>
          </a:prstGeom>
          <a:solidFill>
            <a:srgbClr val="6E2C2C"/>
          </a:solidFill>
          <a:ln/>
        </p:spPr>
      </p:sp>
      <p:sp>
        <p:nvSpPr>
          <p:cNvPr id="26" name="Text 24"/>
          <p:cNvSpPr/>
          <p:nvPr/>
        </p:nvSpPr>
        <p:spPr>
          <a:xfrm>
            <a:off x="6309360" y="337413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8</a:t>
            </a:r>
            <a:endParaRPr lang="en-US" sz="1800" dirty="0"/>
          </a:p>
        </p:txBody>
      </p:sp>
      <p:sp>
        <p:nvSpPr>
          <p:cNvPr id="27" name="Text 25"/>
          <p:cNvSpPr/>
          <p:nvPr/>
        </p:nvSpPr>
        <p:spPr>
          <a:xfrm>
            <a:off x="6995160" y="3355848"/>
            <a:ext cx="4754880" cy="50292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Sécurité</a:t>
            </a:r>
            <a:endParaRPr lang="en-US" sz="1600" dirty="0"/>
          </a:p>
        </p:txBody>
      </p:sp>
      <p:sp>
        <p:nvSpPr>
          <p:cNvPr id="28" name="Shape 26"/>
          <p:cNvSpPr/>
          <p:nvPr/>
        </p:nvSpPr>
        <p:spPr>
          <a:xfrm>
            <a:off x="6309360" y="4215384"/>
            <a:ext cx="457200" cy="457200"/>
          </a:xfrm>
          <a:prstGeom prst="ellipse">
            <a:avLst/>
          </a:prstGeom>
          <a:solidFill>
            <a:srgbClr val="6E2C2C"/>
          </a:solidFill>
          <a:ln/>
        </p:spPr>
      </p:sp>
      <p:sp>
        <p:nvSpPr>
          <p:cNvPr id="29" name="Text 27"/>
          <p:cNvSpPr/>
          <p:nvPr/>
        </p:nvSpPr>
        <p:spPr>
          <a:xfrm>
            <a:off x="6309360" y="421538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9</a:t>
            </a:r>
            <a:endParaRPr lang="en-US" sz="1800" dirty="0"/>
          </a:p>
        </p:txBody>
      </p:sp>
      <p:sp>
        <p:nvSpPr>
          <p:cNvPr id="30" name="Text 28"/>
          <p:cNvSpPr/>
          <p:nvPr/>
        </p:nvSpPr>
        <p:spPr>
          <a:xfrm>
            <a:off x="6995160" y="4197096"/>
            <a:ext cx="4754880" cy="50292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Démonstration</a:t>
            </a:r>
            <a:endParaRPr lang="en-US" sz="1600" dirty="0"/>
          </a:p>
        </p:txBody>
      </p:sp>
      <p:sp>
        <p:nvSpPr>
          <p:cNvPr id="31" name="Shape 29"/>
          <p:cNvSpPr/>
          <p:nvPr/>
        </p:nvSpPr>
        <p:spPr>
          <a:xfrm>
            <a:off x="6309360" y="5056632"/>
            <a:ext cx="457200" cy="457200"/>
          </a:xfrm>
          <a:prstGeom prst="ellipse">
            <a:avLst/>
          </a:prstGeom>
          <a:solidFill>
            <a:srgbClr val="6E2C2C"/>
          </a:solidFill>
          <a:ln/>
        </p:spPr>
      </p:sp>
      <p:sp>
        <p:nvSpPr>
          <p:cNvPr id="32" name="Text 30"/>
          <p:cNvSpPr/>
          <p:nvPr/>
        </p:nvSpPr>
        <p:spPr>
          <a:xfrm>
            <a:off x="6309360" y="505663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10</a:t>
            </a:r>
            <a:endParaRPr lang="en-US" sz="1800" dirty="0"/>
          </a:p>
        </p:txBody>
      </p:sp>
      <p:sp>
        <p:nvSpPr>
          <p:cNvPr id="33" name="Text 31"/>
          <p:cNvSpPr/>
          <p:nvPr/>
        </p:nvSpPr>
        <p:spPr>
          <a:xfrm>
            <a:off x="6995160" y="5038344"/>
            <a:ext cx="4754880" cy="50292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Perspectives et conclusion</a:t>
            </a:r>
            <a:endParaRPr lang="en-US" sz="1600" dirty="0"/>
          </a:p>
        </p:txBody>
      </p:sp>
      <p:sp>
        <p:nvSpPr>
          <p:cNvPr id="34" name="Text 32"/>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CitizenConnect</a:t>
            </a:r>
            <a:endParaRPr lang="en-US" sz="900" dirty="0"/>
          </a:p>
        </p:txBody>
      </p:sp>
      <p:sp>
        <p:nvSpPr>
          <p:cNvPr id="35" name="Text 3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B8863F"/>
                </a:solidFill>
                <a:latin typeface="Calibri" pitchFamily="34" charset="0"/>
                <a:ea typeface="Calibri" pitchFamily="34" charset="-122"/>
                <a:cs typeface="Calibri" pitchFamily="34" charset="-120"/>
              </a:rPr>
              <a:t>CHAPITRE 1</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marL="0" indent="0">
              <a:buNone/>
            </a:pPr>
            <a:r>
              <a:rPr lang="en-US" sz="3000" b="1" dirty="0">
                <a:solidFill>
                  <a:srgbClr val="6E2C2C"/>
                </a:solidFill>
                <a:latin typeface="Cambria" pitchFamily="34" charset="0"/>
                <a:ea typeface="Cambria" pitchFamily="34" charset="-122"/>
                <a:cs typeface="Cambria" pitchFamily="34" charset="-120"/>
              </a:rPr>
              <a:t>Contexte et problématique</a:t>
            </a:r>
            <a:endParaRPr lang="en-US" sz="3000" dirty="0"/>
          </a:p>
        </p:txBody>
      </p:sp>
      <p:sp>
        <p:nvSpPr>
          <p:cNvPr id="4" name="Text 2"/>
          <p:cNvSpPr/>
          <p:nvPr/>
        </p:nvSpPr>
        <p:spPr>
          <a:xfrm>
            <a:off x="548640" y="1600200"/>
            <a:ext cx="5760720" cy="320040"/>
          </a:xfrm>
          <a:prstGeom prst="rect">
            <a:avLst/>
          </a:prstGeom>
          <a:noFill/>
          <a:ln/>
        </p:spPr>
        <p:txBody>
          <a:bodyPr wrap="square" lIns="0" tIns="0" rIns="0" bIns="0" rtlCol="0" anchor="ctr"/>
          <a:lstStyle/>
          <a:p>
            <a:pPr marL="0" indent="0">
              <a:buNone/>
            </a:pPr>
            <a:r>
              <a:rPr lang="en-US" sz="1300" b="1" kern="0" spc="100" dirty="0">
                <a:solidFill>
                  <a:srgbClr val="6E2C2C"/>
                </a:solidFill>
                <a:latin typeface="Calibri" pitchFamily="34" charset="0"/>
                <a:ea typeface="Calibri" pitchFamily="34" charset="-122"/>
                <a:cs typeface="Calibri" pitchFamily="34" charset="-120"/>
              </a:rPr>
              <a:t>CONTEXTE</a:t>
            </a:r>
            <a:endParaRPr lang="en-US" sz="1300" dirty="0"/>
          </a:p>
        </p:txBody>
      </p:sp>
      <p:sp>
        <p:nvSpPr>
          <p:cNvPr id="5" name="Text 3"/>
          <p:cNvSpPr/>
          <p:nvPr/>
        </p:nvSpPr>
        <p:spPr>
          <a:xfrm>
            <a:off x="548640" y="1965960"/>
            <a:ext cx="5760720" cy="1828800"/>
          </a:xfrm>
          <a:prstGeom prst="rect">
            <a:avLst/>
          </a:prstGeom>
          <a:noFill/>
          <a:ln/>
        </p:spPr>
        <p:txBody>
          <a:bodyPr wrap="square" lIns="0" tIns="0" rIns="0" bIns="0" rtlCol="0" anchor="ctr"/>
          <a:lstStyle/>
          <a:p>
            <a:pPr marL="0" indent="0">
              <a:lnSpc>
                <a:spcPct val="125000"/>
              </a:lnSpc>
              <a:buNone/>
            </a:pPr>
            <a:r>
              <a:rPr lang="en-US" sz="1500" dirty="0">
                <a:solidFill>
                  <a:srgbClr val="333333"/>
                </a:solidFill>
                <a:latin typeface="Calibri" pitchFamily="34" charset="0"/>
                <a:ea typeface="Calibri" pitchFamily="34" charset="-122"/>
                <a:cs typeface="Calibri" pitchFamily="34" charset="-120"/>
              </a:rPr>
              <a:t>De nombreuses communes ne disposent pas d'un canal numérique unifié permettant aux citoyens de signaler un problème de service public (voirie, éclairage, propreté...) et d'en suivre le traitement de façon transparente.</a:t>
            </a:r>
            <a:endParaRPr lang="en-US" sz="1500" dirty="0"/>
          </a:p>
        </p:txBody>
      </p:sp>
      <p:sp>
        <p:nvSpPr>
          <p:cNvPr id="6" name="Text 4"/>
          <p:cNvSpPr/>
          <p:nvPr/>
        </p:nvSpPr>
        <p:spPr>
          <a:xfrm>
            <a:off x="548640" y="3977640"/>
            <a:ext cx="5760720" cy="320040"/>
          </a:xfrm>
          <a:prstGeom prst="rect">
            <a:avLst/>
          </a:prstGeom>
          <a:noFill/>
          <a:ln/>
        </p:spPr>
        <p:txBody>
          <a:bodyPr wrap="square" lIns="0" tIns="0" rIns="0" bIns="0" rtlCol="0" anchor="ctr"/>
          <a:lstStyle/>
          <a:p>
            <a:pPr marL="0" indent="0">
              <a:buNone/>
            </a:pPr>
            <a:r>
              <a:rPr lang="en-US" sz="1300" b="1" kern="0" spc="100" dirty="0">
                <a:solidFill>
                  <a:srgbClr val="6E2C2C"/>
                </a:solidFill>
                <a:latin typeface="Calibri" pitchFamily="34" charset="0"/>
                <a:ea typeface="Calibri" pitchFamily="34" charset="-122"/>
                <a:cs typeface="Calibri" pitchFamily="34" charset="-120"/>
              </a:rPr>
              <a:t>CONSÉQUENCE</a:t>
            </a:r>
            <a:endParaRPr lang="en-US" sz="1300" dirty="0"/>
          </a:p>
        </p:txBody>
      </p:sp>
      <p:sp>
        <p:nvSpPr>
          <p:cNvPr id="7" name="Text 5"/>
          <p:cNvSpPr/>
          <p:nvPr/>
        </p:nvSpPr>
        <p:spPr>
          <a:xfrm>
            <a:off x="548640" y="4343400"/>
            <a:ext cx="5760720" cy="1005840"/>
          </a:xfrm>
          <a:prstGeom prst="rect">
            <a:avLst/>
          </a:prstGeom>
          <a:noFill/>
          <a:ln/>
        </p:spPr>
        <p:txBody>
          <a:bodyPr wrap="square" lIns="0" tIns="0" rIns="0" bIns="0" rtlCol="0" anchor="ctr"/>
          <a:lstStyle/>
          <a:p>
            <a:pPr marL="0" indent="0">
              <a:lnSpc>
                <a:spcPct val="125000"/>
              </a:lnSpc>
              <a:buNone/>
            </a:pPr>
            <a:r>
              <a:rPr lang="en-US" sz="1500" dirty="0">
                <a:solidFill>
                  <a:srgbClr val="333333"/>
                </a:solidFill>
                <a:latin typeface="Calibri" pitchFamily="34" charset="0"/>
                <a:ea typeface="Calibri" pitchFamily="34" charset="-122"/>
                <a:cs typeface="Calibri" pitchFamily="34" charset="-120"/>
              </a:rPr>
              <a:t>Signalements informels, traitement peu traçable, citoyens mal informés de l'avancement de leur dossier.</a:t>
            </a:r>
            <a:endParaRPr lang="en-US" sz="1500" dirty="0"/>
          </a:p>
        </p:txBody>
      </p:sp>
      <p:sp>
        <p:nvSpPr>
          <p:cNvPr id="8" name="Shape 6"/>
          <p:cNvSpPr/>
          <p:nvPr/>
        </p:nvSpPr>
        <p:spPr>
          <a:xfrm>
            <a:off x="6720840" y="1645920"/>
            <a:ext cx="4937760" cy="4297680"/>
          </a:xfrm>
          <a:prstGeom prst="roundRect">
            <a:avLst>
              <a:gd name="adj" fmla="val 1702"/>
            </a:avLst>
          </a:prstGeom>
          <a:solidFill>
            <a:srgbClr val="3D1717"/>
          </a:solidFill>
          <a:ln/>
          <a:effectLst>
            <a:outerShdw blurRad="101600" dist="38100" dir="5400000" algn="bl" rotWithShape="0">
              <a:srgbClr val="000000">
                <a:alpha val="25000"/>
              </a:srgbClr>
            </a:outerShdw>
          </a:effectLst>
        </p:spPr>
      </p:sp>
      <p:sp>
        <p:nvSpPr>
          <p:cNvPr id="9" name="Text 7"/>
          <p:cNvSpPr/>
          <p:nvPr/>
        </p:nvSpPr>
        <p:spPr>
          <a:xfrm>
            <a:off x="7086600" y="1965960"/>
            <a:ext cx="4206240" cy="320040"/>
          </a:xfrm>
          <a:prstGeom prst="rect">
            <a:avLst/>
          </a:prstGeom>
          <a:noFill/>
          <a:ln/>
        </p:spPr>
        <p:txBody>
          <a:bodyPr wrap="square" lIns="0" tIns="0" rIns="0" bIns="0" rtlCol="0" anchor="ctr"/>
          <a:lstStyle/>
          <a:p>
            <a:pPr marL="0" indent="0">
              <a:buNone/>
            </a:pPr>
            <a:r>
              <a:rPr lang="en-US" sz="1300" b="1" kern="0" spc="150" dirty="0">
                <a:solidFill>
                  <a:srgbClr val="B8863F"/>
                </a:solidFill>
                <a:latin typeface="Calibri" pitchFamily="34" charset="0"/>
                <a:ea typeface="Calibri" pitchFamily="34" charset="-122"/>
                <a:cs typeface="Calibri" pitchFamily="34" charset="-120"/>
              </a:rPr>
              <a:t>PROBLÉMATIQUE</a:t>
            </a:r>
            <a:endParaRPr lang="en-US" sz="1300" dirty="0"/>
          </a:p>
        </p:txBody>
      </p:sp>
      <p:sp>
        <p:nvSpPr>
          <p:cNvPr id="10" name="Text 8"/>
          <p:cNvSpPr/>
          <p:nvPr/>
        </p:nvSpPr>
        <p:spPr>
          <a:xfrm>
            <a:off x="7086600" y="2423160"/>
            <a:ext cx="4206240" cy="3291840"/>
          </a:xfrm>
          <a:prstGeom prst="rect">
            <a:avLst/>
          </a:prstGeom>
          <a:noFill/>
          <a:ln/>
        </p:spPr>
        <p:txBody>
          <a:bodyPr wrap="square" lIns="0" tIns="0" rIns="0" bIns="0" rtlCol="0" anchor="ctr"/>
          <a:lstStyle/>
          <a:p>
            <a:pPr marL="0" indent="0">
              <a:lnSpc>
                <a:spcPct val="130000"/>
              </a:lnSpc>
              <a:buNone/>
            </a:pPr>
            <a:r>
              <a:rPr lang="en-US" sz="1900" i="1" dirty="0">
                <a:solidFill>
                  <a:srgbClr val="FFFFFF"/>
                </a:solidFill>
                <a:latin typeface="Cambria" pitchFamily="34" charset="0"/>
                <a:ea typeface="Cambria" pitchFamily="34" charset="-122"/>
                <a:cs typeface="Cambria" pitchFamily="34" charset="-120"/>
              </a:rPr>
              <a:t>Comment concevoir une application web sécurisée et structurée en couches, qui centralise la gestion des réclamations citoyennes tout en garantissant une séparation claire des rôles et une traçabilité complète du traitement ?</a:t>
            </a:r>
            <a:endParaRPr lang="en-US" sz="1900" dirty="0"/>
          </a:p>
        </p:txBody>
      </p:sp>
      <p:sp>
        <p:nvSpPr>
          <p:cNvPr id="11" name="Text 9"/>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CitizenConnect</a:t>
            </a:r>
            <a:endParaRPr lang="en-US" sz="900" dirty="0"/>
          </a:p>
        </p:txBody>
      </p:sp>
      <p:sp>
        <p:nvSpPr>
          <p:cNvPr id="12" name="Text 1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B8863F"/>
                </a:solidFill>
                <a:latin typeface="Calibri" pitchFamily="34" charset="0"/>
                <a:ea typeface="Calibri" pitchFamily="34" charset="-122"/>
                <a:cs typeface="Calibri" pitchFamily="34" charset="-120"/>
              </a:rPr>
              <a:t>CHAPITRE 1</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marL="0" indent="0">
              <a:buNone/>
            </a:pPr>
            <a:r>
              <a:rPr lang="en-US" sz="3000" b="1" dirty="0">
                <a:solidFill>
                  <a:srgbClr val="6E2C2C"/>
                </a:solidFill>
                <a:latin typeface="Cambria" pitchFamily="34" charset="0"/>
                <a:ea typeface="Cambria" pitchFamily="34" charset="-122"/>
                <a:cs typeface="Cambria" pitchFamily="34" charset="-120"/>
              </a:rPr>
              <a:t>Objectifs du projet</a:t>
            </a:r>
            <a:endParaRPr lang="en-US" sz="3000" dirty="0"/>
          </a:p>
        </p:txBody>
      </p:sp>
      <p:sp>
        <p:nvSpPr>
          <p:cNvPr id="4" name="Shape 2"/>
          <p:cNvSpPr/>
          <p:nvPr/>
        </p:nvSpPr>
        <p:spPr>
          <a:xfrm>
            <a:off x="548640" y="1691640"/>
            <a:ext cx="3520440" cy="2103120"/>
          </a:xfrm>
          <a:prstGeom prst="roundRect">
            <a:avLst>
              <a:gd name="adj" fmla="val 3043"/>
            </a:avLst>
          </a:prstGeom>
          <a:solidFill>
            <a:srgbClr val="FBFAF8"/>
          </a:solidFill>
          <a:ln w="12700">
            <a:solidFill>
              <a:srgbClr val="E3DDD3"/>
            </a:solidFill>
            <a:prstDash val="solid"/>
          </a:ln>
        </p:spPr>
      </p:sp>
      <p:sp>
        <p:nvSpPr>
          <p:cNvPr id="5" name="Shape 3"/>
          <p:cNvSpPr/>
          <p:nvPr/>
        </p:nvSpPr>
        <p:spPr>
          <a:xfrm>
            <a:off x="777240" y="1947672"/>
            <a:ext cx="457200" cy="457200"/>
          </a:xfrm>
          <a:prstGeom prst="ellipse">
            <a:avLst/>
          </a:prstGeom>
          <a:solidFill>
            <a:srgbClr val="6E2C2C"/>
          </a:solidFill>
          <a:ln/>
        </p:spPr>
      </p:sp>
      <p:sp>
        <p:nvSpPr>
          <p:cNvPr id="6" name="Text 4"/>
          <p:cNvSpPr/>
          <p:nvPr/>
        </p:nvSpPr>
        <p:spPr>
          <a:xfrm>
            <a:off x="777240" y="19476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777240" y="2560320"/>
            <a:ext cx="3063240" cy="502920"/>
          </a:xfrm>
          <a:prstGeom prst="rect">
            <a:avLst/>
          </a:prstGeom>
          <a:noFill/>
          <a:ln/>
        </p:spPr>
        <p:txBody>
          <a:bodyPr wrap="square" lIns="0" tIns="0" rIns="0" bIns="0" rtlCol="0" anchor="ctr"/>
          <a:lstStyle/>
          <a:p>
            <a:pPr marL="0" indent="0">
              <a:buNone/>
            </a:pPr>
            <a:r>
              <a:rPr lang="en-US" sz="1600" b="1" dirty="0">
                <a:solidFill>
                  <a:srgbClr val="6E2C2C"/>
                </a:solidFill>
                <a:latin typeface="Cambria" pitchFamily="34" charset="0"/>
                <a:ea typeface="Cambria" pitchFamily="34" charset="-122"/>
                <a:cs typeface="Cambria" pitchFamily="34" charset="-120"/>
              </a:rPr>
              <a:t>Parcours citoyen complet</a:t>
            </a:r>
            <a:endParaRPr lang="en-US" sz="1600" dirty="0"/>
          </a:p>
        </p:txBody>
      </p:sp>
      <p:sp>
        <p:nvSpPr>
          <p:cNvPr id="8" name="Text 6"/>
          <p:cNvSpPr/>
          <p:nvPr/>
        </p:nvSpPr>
        <p:spPr>
          <a:xfrm>
            <a:off x="777240" y="3017520"/>
            <a:ext cx="3063240" cy="731520"/>
          </a:xfrm>
          <a:prstGeom prst="rect">
            <a:avLst/>
          </a:prstGeom>
          <a:noFill/>
          <a:ln/>
        </p:spPr>
        <p:txBody>
          <a:bodyPr wrap="square" lIns="0" tIns="0" rIns="0" bIns="0" rtlCol="0" anchor="ctr"/>
          <a:lstStyle/>
          <a:p>
            <a:pPr marL="0" indent="0">
              <a:lnSpc>
                <a:spcPct val="115000"/>
              </a:lnSpc>
              <a:buNone/>
            </a:pPr>
            <a:r>
              <a:rPr lang="en-US" sz="1250" dirty="0">
                <a:solidFill>
                  <a:srgbClr val="333333"/>
                </a:solidFill>
                <a:latin typeface="Calibri" pitchFamily="34" charset="0"/>
                <a:ea typeface="Calibri" pitchFamily="34" charset="-122"/>
                <a:cs typeface="Calibri" pitchFamily="34" charset="-120"/>
              </a:rPr>
              <a:t>Inscription, dépôt d'une réclamation avec pièces jointes, suivi du statut en temps réel.</a:t>
            </a:r>
            <a:endParaRPr lang="en-US" sz="1250" dirty="0"/>
          </a:p>
        </p:txBody>
      </p:sp>
      <p:sp>
        <p:nvSpPr>
          <p:cNvPr id="9" name="Shape 7"/>
          <p:cNvSpPr/>
          <p:nvPr/>
        </p:nvSpPr>
        <p:spPr>
          <a:xfrm>
            <a:off x="4325112" y="1691640"/>
            <a:ext cx="3520440" cy="2103120"/>
          </a:xfrm>
          <a:prstGeom prst="roundRect">
            <a:avLst>
              <a:gd name="adj" fmla="val 3043"/>
            </a:avLst>
          </a:prstGeom>
          <a:solidFill>
            <a:srgbClr val="FBFAF8"/>
          </a:solidFill>
          <a:ln w="12700">
            <a:solidFill>
              <a:srgbClr val="E3DDD3"/>
            </a:solidFill>
            <a:prstDash val="solid"/>
          </a:ln>
        </p:spPr>
      </p:sp>
      <p:sp>
        <p:nvSpPr>
          <p:cNvPr id="10" name="Shape 8"/>
          <p:cNvSpPr/>
          <p:nvPr/>
        </p:nvSpPr>
        <p:spPr>
          <a:xfrm>
            <a:off x="4553712" y="1947672"/>
            <a:ext cx="457200" cy="457200"/>
          </a:xfrm>
          <a:prstGeom prst="ellipse">
            <a:avLst/>
          </a:prstGeom>
          <a:solidFill>
            <a:srgbClr val="6E2C2C"/>
          </a:solidFill>
          <a:ln/>
        </p:spPr>
      </p:sp>
      <p:sp>
        <p:nvSpPr>
          <p:cNvPr id="11" name="Text 9"/>
          <p:cNvSpPr/>
          <p:nvPr/>
        </p:nvSpPr>
        <p:spPr>
          <a:xfrm>
            <a:off x="4553712" y="19476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4553712" y="2560320"/>
            <a:ext cx="3063240" cy="502920"/>
          </a:xfrm>
          <a:prstGeom prst="rect">
            <a:avLst/>
          </a:prstGeom>
          <a:noFill/>
          <a:ln/>
        </p:spPr>
        <p:txBody>
          <a:bodyPr wrap="square" lIns="0" tIns="0" rIns="0" bIns="0" rtlCol="0" anchor="ctr"/>
          <a:lstStyle/>
          <a:p>
            <a:pPr marL="0" indent="0">
              <a:buNone/>
            </a:pPr>
            <a:r>
              <a:rPr lang="en-US" sz="1600" b="1" dirty="0">
                <a:solidFill>
                  <a:srgbClr val="6E2C2C"/>
                </a:solidFill>
                <a:latin typeface="Cambria" pitchFamily="34" charset="0"/>
                <a:ea typeface="Cambria" pitchFamily="34" charset="-122"/>
                <a:cs typeface="Cambria" pitchFamily="34" charset="-120"/>
              </a:rPr>
              <a:t>Outillage des agents</a:t>
            </a:r>
            <a:endParaRPr lang="en-US" sz="1600" dirty="0"/>
          </a:p>
        </p:txBody>
      </p:sp>
      <p:sp>
        <p:nvSpPr>
          <p:cNvPr id="13" name="Text 11"/>
          <p:cNvSpPr/>
          <p:nvPr/>
        </p:nvSpPr>
        <p:spPr>
          <a:xfrm>
            <a:off x="4553712" y="3017520"/>
            <a:ext cx="3063240" cy="731520"/>
          </a:xfrm>
          <a:prstGeom prst="rect">
            <a:avLst/>
          </a:prstGeom>
          <a:noFill/>
          <a:ln/>
        </p:spPr>
        <p:txBody>
          <a:bodyPr wrap="square" lIns="0" tIns="0" rIns="0" bIns="0" rtlCol="0" anchor="ctr"/>
          <a:lstStyle/>
          <a:p>
            <a:pPr marL="0" indent="0">
              <a:lnSpc>
                <a:spcPct val="115000"/>
              </a:lnSpc>
              <a:buNone/>
            </a:pPr>
            <a:r>
              <a:rPr lang="en-US" sz="1250" dirty="0">
                <a:solidFill>
                  <a:srgbClr val="333333"/>
                </a:solidFill>
                <a:latin typeface="Calibri" pitchFamily="34" charset="0"/>
                <a:ea typeface="Calibri" pitchFamily="34" charset="-122"/>
                <a:cs typeface="Calibri" pitchFamily="34" charset="-120"/>
              </a:rPr>
              <a:t>Traitement des dossiers assignés : mise à jour du statut, commentaires de suivi.</a:t>
            </a:r>
            <a:endParaRPr lang="en-US" sz="1250" dirty="0"/>
          </a:p>
        </p:txBody>
      </p:sp>
      <p:sp>
        <p:nvSpPr>
          <p:cNvPr id="14" name="Shape 12"/>
          <p:cNvSpPr/>
          <p:nvPr/>
        </p:nvSpPr>
        <p:spPr>
          <a:xfrm>
            <a:off x="8101584" y="1691640"/>
            <a:ext cx="3520440" cy="2103120"/>
          </a:xfrm>
          <a:prstGeom prst="roundRect">
            <a:avLst>
              <a:gd name="adj" fmla="val 3043"/>
            </a:avLst>
          </a:prstGeom>
          <a:solidFill>
            <a:srgbClr val="FBFAF8"/>
          </a:solidFill>
          <a:ln w="12700">
            <a:solidFill>
              <a:srgbClr val="E3DDD3"/>
            </a:solidFill>
            <a:prstDash val="solid"/>
          </a:ln>
        </p:spPr>
      </p:sp>
      <p:sp>
        <p:nvSpPr>
          <p:cNvPr id="15" name="Shape 13"/>
          <p:cNvSpPr/>
          <p:nvPr/>
        </p:nvSpPr>
        <p:spPr>
          <a:xfrm>
            <a:off x="8330184" y="1947672"/>
            <a:ext cx="457200" cy="457200"/>
          </a:xfrm>
          <a:prstGeom prst="ellipse">
            <a:avLst/>
          </a:prstGeom>
          <a:solidFill>
            <a:srgbClr val="6E2C2C"/>
          </a:solidFill>
          <a:ln/>
        </p:spPr>
      </p:sp>
      <p:sp>
        <p:nvSpPr>
          <p:cNvPr id="16" name="Text 14"/>
          <p:cNvSpPr/>
          <p:nvPr/>
        </p:nvSpPr>
        <p:spPr>
          <a:xfrm>
            <a:off x="8330184" y="19476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8330184" y="2560320"/>
            <a:ext cx="3063240" cy="502920"/>
          </a:xfrm>
          <a:prstGeom prst="rect">
            <a:avLst/>
          </a:prstGeom>
          <a:noFill/>
          <a:ln/>
        </p:spPr>
        <p:txBody>
          <a:bodyPr wrap="square" lIns="0" tIns="0" rIns="0" bIns="0" rtlCol="0" anchor="ctr"/>
          <a:lstStyle/>
          <a:p>
            <a:pPr marL="0" indent="0">
              <a:buNone/>
            </a:pPr>
            <a:r>
              <a:rPr lang="en-US" sz="1600" b="1" dirty="0">
                <a:solidFill>
                  <a:srgbClr val="6E2C2C"/>
                </a:solidFill>
                <a:latin typeface="Cambria" pitchFamily="34" charset="0"/>
                <a:ea typeface="Cambria" pitchFamily="34" charset="-122"/>
                <a:cs typeface="Cambria" pitchFamily="34" charset="-120"/>
              </a:rPr>
              <a:t>Pilotage administrateur</a:t>
            </a:r>
            <a:endParaRPr lang="en-US" sz="1600" dirty="0"/>
          </a:p>
        </p:txBody>
      </p:sp>
      <p:sp>
        <p:nvSpPr>
          <p:cNvPr id="18" name="Text 16"/>
          <p:cNvSpPr/>
          <p:nvPr/>
        </p:nvSpPr>
        <p:spPr>
          <a:xfrm>
            <a:off x="8330184" y="3017520"/>
            <a:ext cx="3063240" cy="731520"/>
          </a:xfrm>
          <a:prstGeom prst="rect">
            <a:avLst/>
          </a:prstGeom>
          <a:noFill/>
          <a:ln/>
        </p:spPr>
        <p:txBody>
          <a:bodyPr wrap="square" lIns="0" tIns="0" rIns="0" bIns="0" rtlCol="0" anchor="ctr"/>
          <a:lstStyle/>
          <a:p>
            <a:pPr marL="0" indent="0">
              <a:lnSpc>
                <a:spcPct val="115000"/>
              </a:lnSpc>
              <a:buNone/>
            </a:pPr>
            <a:r>
              <a:rPr lang="en-US" sz="1250" dirty="0">
                <a:solidFill>
                  <a:srgbClr val="333333"/>
                </a:solidFill>
                <a:latin typeface="Calibri" pitchFamily="34" charset="0"/>
                <a:ea typeface="Calibri" pitchFamily="34" charset="-122"/>
                <a:cs typeface="Calibri" pitchFamily="34" charset="-120"/>
              </a:rPr>
              <a:t>Gestion des comptes, rôles, catégories et statistiques globales de la plateforme.</a:t>
            </a:r>
            <a:endParaRPr lang="en-US" sz="1250" dirty="0"/>
          </a:p>
        </p:txBody>
      </p:sp>
      <p:sp>
        <p:nvSpPr>
          <p:cNvPr id="19" name="Shape 17"/>
          <p:cNvSpPr/>
          <p:nvPr/>
        </p:nvSpPr>
        <p:spPr>
          <a:xfrm>
            <a:off x="548640" y="4023360"/>
            <a:ext cx="3520440" cy="2103120"/>
          </a:xfrm>
          <a:prstGeom prst="roundRect">
            <a:avLst>
              <a:gd name="adj" fmla="val 3043"/>
            </a:avLst>
          </a:prstGeom>
          <a:solidFill>
            <a:srgbClr val="FBFAF8"/>
          </a:solidFill>
          <a:ln w="12700">
            <a:solidFill>
              <a:srgbClr val="E3DDD3"/>
            </a:solidFill>
            <a:prstDash val="solid"/>
          </a:ln>
        </p:spPr>
      </p:sp>
      <p:sp>
        <p:nvSpPr>
          <p:cNvPr id="20" name="Shape 18"/>
          <p:cNvSpPr/>
          <p:nvPr/>
        </p:nvSpPr>
        <p:spPr>
          <a:xfrm>
            <a:off x="777240" y="4279392"/>
            <a:ext cx="457200" cy="457200"/>
          </a:xfrm>
          <a:prstGeom prst="ellipse">
            <a:avLst/>
          </a:prstGeom>
          <a:solidFill>
            <a:srgbClr val="6E2C2C"/>
          </a:solidFill>
          <a:ln/>
        </p:spPr>
      </p:sp>
      <p:sp>
        <p:nvSpPr>
          <p:cNvPr id="21" name="Text 19"/>
          <p:cNvSpPr/>
          <p:nvPr/>
        </p:nvSpPr>
        <p:spPr>
          <a:xfrm>
            <a:off x="777240" y="427939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777240" y="4892040"/>
            <a:ext cx="3063240" cy="502920"/>
          </a:xfrm>
          <a:prstGeom prst="rect">
            <a:avLst/>
          </a:prstGeom>
          <a:noFill/>
          <a:ln/>
        </p:spPr>
        <p:txBody>
          <a:bodyPr wrap="square" lIns="0" tIns="0" rIns="0" bIns="0" rtlCol="0" anchor="ctr"/>
          <a:lstStyle/>
          <a:p>
            <a:pPr marL="0" indent="0">
              <a:buNone/>
            </a:pPr>
            <a:r>
              <a:rPr lang="en-US" sz="1600" b="1" dirty="0">
                <a:solidFill>
                  <a:srgbClr val="6E2C2C"/>
                </a:solidFill>
                <a:latin typeface="Cambria" pitchFamily="34" charset="0"/>
                <a:ea typeface="Cambria" pitchFamily="34" charset="-122"/>
                <a:cs typeface="Cambria" pitchFamily="34" charset="-120"/>
              </a:rPr>
              <a:t>Architecture en couches</a:t>
            </a:r>
            <a:endParaRPr lang="en-US" sz="1600" dirty="0"/>
          </a:p>
        </p:txBody>
      </p:sp>
      <p:sp>
        <p:nvSpPr>
          <p:cNvPr id="23" name="Text 21"/>
          <p:cNvSpPr/>
          <p:nvPr/>
        </p:nvSpPr>
        <p:spPr>
          <a:xfrm>
            <a:off x="777240" y="5349240"/>
            <a:ext cx="3063240" cy="731520"/>
          </a:xfrm>
          <a:prstGeom prst="rect">
            <a:avLst/>
          </a:prstGeom>
          <a:noFill/>
          <a:ln/>
        </p:spPr>
        <p:txBody>
          <a:bodyPr wrap="square" lIns="0" tIns="0" rIns="0" bIns="0" rtlCol="0" anchor="ctr"/>
          <a:lstStyle/>
          <a:p>
            <a:pPr marL="0" indent="0">
              <a:lnSpc>
                <a:spcPct val="115000"/>
              </a:lnSpc>
              <a:buNone/>
            </a:pPr>
            <a:r>
              <a:rPr lang="en-US" sz="1250" dirty="0">
                <a:solidFill>
                  <a:srgbClr val="333333"/>
                </a:solidFill>
                <a:latin typeface="Calibri" pitchFamily="34" charset="0"/>
                <a:ea typeface="Calibri" pitchFamily="34" charset="-122"/>
                <a:cs typeface="Calibri" pitchFamily="34" charset="-120"/>
              </a:rPr>
              <a:t>Séparation stricte entités / DTO / mappers / repositories / services / contrôleurs.</a:t>
            </a:r>
            <a:endParaRPr lang="en-US" sz="1250" dirty="0"/>
          </a:p>
        </p:txBody>
      </p:sp>
      <p:sp>
        <p:nvSpPr>
          <p:cNvPr id="24" name="Shape 22"/>
          <p:cNvSpPr/>
          <p:nvPr/>
        </p:nvSpPr>
        <p:spPr>
          <a:xfrm>
            <a:off x="4325112" y="4023360"/>
            <a:ext cx="3520440" cy="2103120"/>
          </a:xfrm>
          <a:prstGeom prst="roundRect">
            <a:avLst>
              <a:gd name="adj" fmla="val 3043"/>
            </a:avLst>
          </a:prstGeom>
          <a:solidFill>
            <a:srgbClr val="FBFAF8"/>
          </a:solidFill>
          <a:ln w="12700">
            <a:solidFill>
              <a:srgbClr val="E3DDD3"/>
            </a:solidFill>
            <a:prstDash val="solid"/>
          </a:ln>
        </p:spPr>
      </p:sp>
      <p:sp>
        <p:nvSpPr>
          <p:cNvPr id="25" name="Shape 23"/>
          <p:cNvSpPr/>
          <p:nvPr/>
        </p:nvSpPr>
        <p:spPr>
          <a:xfrm>
            <a:off x="4553712" y="4279392"/>
            <a:ext cx="457200" cy="457200"/>
          </a:xfrm>
          <a:prstGeom prst="ellipse">
            <a:avLst/>
          </a:prstGeom>
          <a:solidFill>
            <a:srgbClr val="6E2C2C"/>
          </a:solidFill>
          <a:ln/>
        </p:spPr>
      </p:sp>
      <p:sp>
        <p:nvSpPr>
          <p:cNvPr id="26" name="Text 24"/>
          <p:cNvSpPr/>
          <p:nvPr/>
        </p:nvSpPr>
        <p:spPr>
          <a:xfrm>
            <a:off x="4553712" y="427939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7" name="Text 25"/>
          <p:cNvSpPr/>
          <p:nvPr/>
        </p:nvSpPr>
        <p:spPr>
          <a:xfrm>
            <a:off x="4553712" y="4892040"/>
            <a:ext cx="3063240" cy="502920"/>
          </a:xfrm>
          <a:prstGeom prst="rect">
            <a:avLst/>
          </a:prstGeom>
          <a:noFill/>
          <a:ln/>
        </p:spPr>
        <p:txBody>
          <a:bodyPr wrap="square" lIns="0" tIns="0" rIns="0" bIns="0" rtlCol="0" anchor="ctr"/>
          <a:lstStyle/>
          <a:p>
            <a:pPr marL="0" indent="0">
              <a:buNone/>
            </a:pPr>
            <a:r>
              <a:rPr lang="en-US" sz="1600" b="1" dirty="0">
                <a:solidFill>
                  <a:srgbClr val="6E2C2C"/>
                </a:solidFill>
                <a:latin typeface="Cambria" pitchFamily="34" charset="0"/>
                <a:ea typeface="Cambria" pitchFamily="34" charset="-122"/>
                <a:cs typeface="Cambria" pitchFamily="34" charset="-120"/>
              </a:rPr>
              <a:t>Sécurité RBAC multi-niveaux</a:t>
            </a:r>
            <a:endParaRPr lang="en-US" sz="1600" dirty="0"/>
          </a:p>
        </p:txBody>
      </p:sp>
      <p:sp>
        <p:nvSpPr>
          <p:cNvPr id="28" name="Text 26"/>
          <p:cNvSpPr/>
          <p:nvPr/>
        </p:nvSpPr>
        <p:spPr>
          <a:xfrm>
            <a:off x="4553712" y="5349240"/>
            <a:ext cx="3063240" cy="731520"/>
          </a:xfrm>
          <a:prstGeom prst="rect">
            <a:avLst/>
          </a:prstGeom>
          <a:noFill/>
          <a:ln/>
        </p:spPr>
        <p:txBody>
          <a:bodyPr wrap="square" lIns="0" tIns="0" rIns="0" bIns="0" rtlCol="0" anchor="ctr"/>
          <a:lstStyle/>
          <a:p>
            <a:pPr marL="0" indent="0">
              <a:lnSpc>
                <a:spcPct val="115000"/>
              </a:lnSpc>
              <a:buNone/>
            </a:pPr>
            <a:r>
              <a:rPr lang="en-US" sz="1250" dirty="0">
                <a:solidFill>
                  <a:srgbClr val="333333"/>
                </a:solidFill>
                <a:latin typeface="Calibri" pitchFamily="34" charset="0"/>
                <a:ea typeface="Calibri" pitchFamily="34" charset="-122"/>
                <a:cs typeface="Calibri" pitchFamily="34" charset="-120"/>
              </a:rPr>
              <a:t>Contrôle d'accès au niveau URL, méthode, et objet par objet.</a:t>
            </a:r>
            <a:endParaRPr lang="en-US" sz="1250" dirty="0"/>
          </a:p>
        </p:txBody>
      </p:sp>
      <p:sp>
        <p:nvSpPr>
          <p:cNvPr id="29"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CitizenConnect</a:t>
            </a:r>
            <a:endParaRPr lang="en-US" sz="900" dirty="0"/>
          </a:p>
        </p:txBody>
      </p:sp>
      <p:sp>
        <p:nvSpPr>
          <p:cNvPr id="30" name="Text 2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B8863F"/>
                </a:solidFill>
                <a:latin typeface="Calibri" pitchFamily="34" charset="0"/>
                <a:ea typeface="Calibri" pitchFamily="34" charset="-122"/>
                <a:cs typeface="Calibri" pitchFamily="34" charset="-120"/>
              </a:rPr>
              <a:t>CHAPITRE 4</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marL="0" indent="0">
              <a:buNone/>
            </a:pPr>
            <a:r>
              <a:rPr lang="en-US" sz="3000" b="1" dirty="0">
                <a:solidFill>
                  <a:srgbClr val="6E2C2C"/>
                </a:solidFill>
                <a:latin typeface="Cambria" pitchFamily="34" charset="0"/>
                <a:ea typeface="Cambria" pitchFamily="34" charset="-122"/>
                <a:cs typeface="Cambria" pitchFamily="34" charset="-120"/>
              </a:rPr>
              <a:t>Stack technique</a:t>
            </a:r>
            <a:endParaRPr lang="en-US" sz="3000" dirty="0"/>
          </a:p>
        </p:txBody>
      </p:sp>
      <p:sp>
        <p:nvSpPr>
          <p:cNvPr id="4" name="Shape 2"/>
          <p:cNvSpPr/>
          <p:nvPr/>
        </p:nvSpPr>
        <p:spPr>
          <a:xfrm>
            <a:off x="548640" y="1691640"/>
            <a:ext cx="11064240" cy="896112"/>
          </a:xfrm>
          <a:prstGeom prst="roundRect">
            <a:avLst>
              <a:gd name="adj" fmla="val 6122"/>
            </a:avLst>
          </a:prstGeom>
          <a:solidFill>
            <a:srgbClr val="FBFAF8"/>
          </a:solidFill>
          <a:ln w="12700">
            <a:solidFill>
              <a:srgbClr val="E3DDD3"/>
            </a:solidFill>
            <a:prstDash val="solid"/>
          </a:ln>
        </p:spPr>
      </p:sp>
      <p:sp>
        <p:nvSpPr>
          <p:cNvPr id="5" name="Shape 3"/>
          <p:cNvSpPr/>
          <p:nvPr/>
        </p:nvSpPr>
        <p:spPr>
          <a:xfrm>
            <a:off x="548640" y="1691640"/>
            <a:ext cx="2468880" cy="896112"/>
          </a:xfrm>
          <a:prstGeom prst="roundRect">
            <a:avLst>
              <a:gd name="adj" fmla="val 6122"/>
            </a:avLst>
          </a:prstGeom>
          <a:solidFill>
            <a:srgbClr val="6E2C2C"/>
          </a:solidFill>
          <a:ln/>
        </p:spPr>
      </p:sp>
      <p:sp>
        <p:nvSpPr>
          <p:cNvPr id="6" name="Text 4"/>
          <p:cNvSpPr/>
          <p:nvPr/>
        </p:nvSpPr>
        <p:spPr>
          <a:xfrm>
            <a:off x="548640" y="1691640"/>
            <a:ext cx="2468880" cy="89611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Backend</a:t>
            </a:r>
            <a:endParaRPr lang="en-US" sz="1500" dirty="0"/>
          </a:p>
        </p:txBody>
      </p:sp>
      <p:sp>
        <p:nvSpPr>
          <p:cNvPr id="7" name="Text 5"/>
          <p:cNvSpPr/>
          <p:nvPr/>
        </p:nvSpPr>
        <p:spPr>
          <a:xfrm>
            <a:off x="3246120" y="1691640"/>
            <a:ext cx="8138160" cy="896112"/>
          </a:xfrm>
          <a:prstGeom prst="rect">
            <a:avLst/>
          </a:prstGeom>
          <a:noFill/>
          <a:ln/>
        </p:spPr>
        <p:txBody>
          <a:bodyPr wrap="square" lIns="0" tIns="0" rIns="0" bIns="0" rtlCol="0" anchor="ctr"/>
          <a:lstStyle/>
          <a:p>
            <a:pPr marL="0" indent="0">
              <a:buNone/>
            </a:pPr>
            <a:r>
              <a:rPr lang="en-US" sz="1450" dirty="0">
                <a:solidFill>
                  <a:srgbClr val="333333"/>
                </a:solidFill>
                <a:latin typeface="Calibri" pitchFamily="34" charset="0"/>
                <a:ea typeface="Calibri" pitchFamily="34" charset="-122"/>
                <a:cs typeface="Calibri" pitchFamily="34" charset="-120"/>
              </a:rPr>
              <a:t>Java 21 · Spring Boot 4.0 · Spring MVC · Spring Data JPA (Hibernate 7) · Maven</a:t>
            </a:r>
            <a:endParaRPr lang="en-US" sz="1450" dirty="0"/>
          </a:p>
        </p:txBody>
      </p:sp>
      <p:sp>
        <p:nvSpPr>
          <p:cNvPr id="8" name="Shape 6"/>
          <p:cNvSpPr/>
          <p:nvPr/>
        </p:nvSpPr>
        <p:spPr>
          <a:xfrm>
            <a:off x="548640" y="2770632"/>
            <a:ext cx="11064240" cy="896112"/>
          </a:xfrm>
          <a:prstGeom prst="roundRect">
            <a:avLst>
              <a:gd name="adj" fmla="val 6122"/>
            </a:avLst>
          </a:prstGeom>
          <a:solidFill>
            <a:srgbClr val="FFFFFF"/>
          </a:solidFill>
          <a:ln w="12700">
            <a:solidFill>
              <a:srgbClr val="E3DDD3"/>
            </a:solidFill>
            <a:prstDash val="solid"/>
          </a:ln>
        </p:spPr>
      </p:sp>
      <p:sp>
        <p:nvSpPr>
          <p:cNvPr id="9" name="Shape 7"/>
          <p:cNvSpPr/>
          <p:nvPr/>
        </p:nvSpPr>
        <p:spPr>
          <a:xfrm>
            <a:off x="548640" y="2770632"/>
            <a:ext cx="2468880" cy="896112"/>
          </a:xfrm>
          <a:prstGeom prst="roundRect">
            <a:avLst>
              <a:gd name="adj" fmla="val 6122"/>
            </a:avLst>
          </a:prstGeom>
          <a:solidFill>
            <a:srgbClr val="6E2C2C"/>
          </a:solidFill>
          <a:ln/>
        </p:spPr>
      </p:sp>
      <p:sp>
        <p:nvSpPr>
          <p:cNvPr id="10" name="Text 8"/>
          <p:cNvSpPr/>
          <p:nvPr/>
        </p:nvSpPr>
        <p:spPr>
          <a:xfrm>
            <a:off x="548640" y="2770632"/>
            <a:ext cx="2468880" cy="89611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Sécurité</a:t>
            </a:r>
            <a:endParaRPr lang="en-US" sz="1500" dirty="0"/>
          </a:p>
        </p:txBody>
      </p:sp>
      <p:sp>
        <p:nvSpPr>
          <p:cNvPr id="11" name="Text 9"/>
          <p:cNvSpPr/>
          <p:nvPr/>
        </p:nvSpPr>
        <p:spPr>
          <a:xfrm>
            <a:off x="3246120" y="2770632"/>
            <a:ext cx="8138160" cy="896112"/>
          </a:xfrm>
          <a:prstGeom prst="rect">
            <a:avLst/>
          </a:prstGeom>
          <a:noFill/>
          <a:ln/>
        </p:spPr>
        <p:txBody>
          <a:bodyPr wrap="square" lIns="0" tIns="0" rIns="0" bIns="0" rtlCol="0" anchor="ctr"/>
          <a:lstStyle/>
          <a:p>
            <a:pPr marL="0" indent="0">
              <a:buNone/>
            </a:pPr>
            <a:r>
              <a:rPr lang="en-US" sz="1450" dirty="0">
                <a:solidFill>
                  <a:srgbClr val="333333"/>
                </a:solidFill>
                <a:latin typeface="Calibri" pitchFamily="34" charset="0"/>
                <a:ea typeface="Calibri" pitchFamily="34" charset="-122"/>
                <a:cs typeface="Calibri" pitchFamily="34" charset="-120"/>
              </a:rPr>
              <a:t>Spring Security 7 · authentification par formulaire · BCrypt · RBAC</a:t>
            </a:r>
            <a:endParaRPr lang="en-US" sz="1450" dirty="0"/>
          </a:p>
        </p:txBody>
      </p:sp>
      <p:sp>
        <p:nvSpPr>
          <p:cNvPr id="12" name="Shape 10"/>
          <p:cNvSpPr/>
          <p:nvPr/>
        </p:nvSpPr>
        <p:spPr>
          <a:xfrm>
            <a:off x="548640" y="3849624"/>
            <a:ext cx="11064240" cy="896112"/>
          </a:xfrm>
          <a:prstGeom prst="roundRect">
            <a:avLst>
              <a:gd name="adj" fmla="val 6122"/>
            </a:avLst>
          </a:prstGeom>
          <a:solidFill>
            <a:srgbClr val="FBFAF8"/>
          </a:solidFill>
          <a:ln w="12700">
            <a:solidFill>
              <a:srgbClr val="E3DDD3"/>
            </a:solidFill>
            <a:prstDash val="solid"/>
          </a:ln>
        </p:spPr>
      </p:sp>
      <p:sp>
        <p:nvSpPr>
          <p:cNvPr id="13" name="Shape 11"/>
          <p:cNvSpPr/>
          <p:nvPr/>
        </p:nvSpPr>
        <p:spPr>
          <a:xfrm>
            <a:off x="548640" y="3849624"/>
            <a:ext cx="2468880" cy="896112"/>
          </a:xfrm>
          <a:prstGeom prst="roundRect">
            <a:avLst>
              <a:gd name="adj" fmla="val 6122"/>
            </a:avLst>
          </a:prstGeom>
          <a:solidFill>
            <a:srgbClr val="6E2C2C"/>
          </a:solidFill>
          <a:ln/>
        </p:spPr>
      </p:sp>
      <p:sp>
        <p:nvSpPr>
          <p:cNvPr id="14" name="Text 12"/>
          <p:cNvSpPr/>
          <p:nvPr/>
        </p:nvSpPr>
        <p:spPr>
          <a:xfrm>
            <a:off x="548640" y="3849624"/>
            <a:ext cx="2468880" cy="89611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Base de données</a:t>
            </a:r>
            <a:endParaRPr lang="en-US" sz="1500" dirty="0"/>
          </a:p>
        </p:txBody>
      </p:sp>
      <p:sp>
        <p:nvSpPr>
          <p:cNvPr id="15" name="Text 13"/>
          <p:cNvSpPr/>
          <p:nvPr/>
        </p:nvSpPr>
        <p:spPr>
          <a:xfrm>
            <a:off x="3246120" y="3849624"/>
            <a:ext cx="8138160" cy="896112"/>
          </a:xfrm>
          <a:prstGeom prst="rect">
            <a:avLst/>
          </a:prstGeom>
          <a:noFill/>
          <a:ln/>
        </p:spPr>
        <p:txBody>
          <a:bodyPr wrap="square" lIns="0" tIns="0" rIns="0" bIns="0" rtlCol="0" anchor="ctr"/>
          <a:lstStyle/>
          <a:p>
            <a:pPr marL="0" indent="0">
              <a:buNone/>
            </a:pPr>
            <a:r>
              <a:rPr lang="en-US" sz="1450" dirty="0">
                <a:solidFill>
                  <a:srgbClr val="333333"/>
                </a:solidFill>
                <a:latin typeface="Calibri" pitchFamily="34" charset="0"/>
                <a:ea typeface="Calibri" pitchFamily="34" charset="-122"/>
                <a:cs typeface="Calibri" pitchFamily="34" charset="-120"/>
              </a:rPr>
              <a:t>PostgreSQL 17</a:t>
            </a:r>
            <a:endParaRPr lang="en-US" sz="1450" dirty="0"/>
          </a:p>
        </p:txBody>
      </p:sp>
      <p:sp>
        <p:nvSpPr>
          <p:cNvPr id="16" name="Shape 14"/>
          <p:cNvSpPr/>
          <p:nvPr/>
        </p:nvSpPr>
        <p:spPr>
          <a:xfrm>
            <a:off x="548640" y="4928616"/>
            <a:ext cx="11064240" cy="896112"/>
          </a:xfrm>
          <a:prstGeom prst="roundRect">
            <a:avLst>
              <a:gd name="adj" fmla="val 6122"/>
            </a:avLst>
          </a:prstGeom>
          <a:solidFill>
            <a:srgbClr val="FFFFFF"/>
          </a:solidFill>
          <a:ln w="12700">
            <a:solidFill>
              <a:srgbClr val="E3DDD3"/>
            </a:solidFill>
            <a:prstDash val="solid"/>
          </a:ln>
        </p:spPr>
      </p:sp>
      <p:sp>
        <p:nvSpPr>
          <p:cNvPr id="17" name="Shape 15"/>
          <p:cNvSpPr/>
          <p:nvPr/>
        </p:nvSpPr>
        <p:spPr>
          <a:xfrm>
            <a:off x="548640" y="4928616"/>
            <a:ext cx="2468880" cy="896112"/>
          </a:xfrm>
          <a:prstGeom prst="roundRect">
            <a:avLst>
              <a:gd name="adj" fmla="val 6122"/>
            </a:avLst>
          </a:prstGeom>
          <a:solidFill>
            <a:srgbClr val="6E2C2C"/>
          </a:solidFill>
          <a:ln/>
        </p:spPr>
      </p:sp>
      <p:sp>
        <p:nvSpPr>
          <p:cNvPr id="18" name="Text 16"/>
          <p:cNvSpPr/>
          <p:nvPr/>
        </p:nvSpPr>
        <p:spPr>
          <a:xfrm>
            <a:off x="548640" y="4928616"/>
            <a:ext cx="2468880" cy="89611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Frontend</a:t>
            </a:r>
            <a:endParaRPr lang="en-US" sz="1500" dirty="0"/>
          </a:p>
        </p:txBody>
      </p:sp>
      <p:sp>
        <p:nvSpPr>
          <p:cNvPr id="19" name="Text 17"/>
          <p:cNvSpPr/>
          <p:nvPr/>
        </p:nvSpPr>
        <p:spPr>
          <a:xfrm>
            <a:off x="3246120" y="4928616"/>
            <a:ext cx="8138160" cy="896112"/>
          </a:xfrm>
          <a:prstGeom prst="rect">
            <a:avLst/>
          </a:prstGeom>
          <a:noFill/>
          <a:ln/>
        </p:spPr>
        <p:txBody>
          <a:bodyPr wrap="square" lIns="0" tIns="0" rIns="0" bIns="0" rtlCol="0" anchor="ctr"/>
          <a:lstStyle/>
          <a:p>
            <a:pPr marL="0" indent="0">
              <a:buNone/>
            </a:pPr>
            <a:r>
              <a:rPr lang="en-US" sz="1450" dirty="0">
                <a:solidFill>
                  <a:srgbClr val="333333"/>
                </a:solidFill>
                <a:latin typeface="Calibri" pitchFamily="34" charset="0"/>
                <a:ea typeface="Calibri" pitchFamily="34" charset="-122"/>
                <a:cs typeface="Calibri" pitchFamily="34" charset="-120"/>
              </a:rPr>
              <a:t>Thymeleaf · HTML5 · CSS3 · Bootstrap 5 · JavaScript</a:t>
            </a:r>
            <a:endParaRPr lang="en-US" sz="1450" dirty="0"/>
          </a:p>
        </p:txBody>
      </p:sp>
      <p:sp>
        <p:nvSpPr>
          <p:cNvPr id="20" name="Text 18"/>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CitizenConnect</a:t>
            </a:r>
            <a:endParaRPr lang="en-US" sz="900" dirty="0"/>
          </a:p>
        </p:txBody>
      </p:sp>
      <p:sp>
        <p:nvSpPr>
          <p:cNvPr id="21"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B8863F"/>
                </a:solidFill>
                <a:latin typeface="Calibri" pitchFamily="34" charset="0"/>
                <a:ea typeface="Calibri" pitchFamily="34" charset="-122"/>
                <a:cs typeface="Calibri" pitchFamily="34" charset="-120"/>
              </a:rPr>
              <a:t>CHAPITRE 3</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marL="0" indent="0">
              <a:buNone/>
            </a:pPr>
            <a:r>
              <a:rPr lang="en-US" sz="3000" b="1" dirty="0">
                <a:solidFill>
                  <a:srgbClr val="6E2C2C"/>
                </a:solidFill>
                <a:latin typeface="Cambria" pitchFamily="34" charset="0"/>
                <a:ea typeface="Cambria" pitchFamily="34" charset="-122"/>
                <a:cs typeface="Cambria" pitchFamily="34" charset="-120"/>
              </a:rPr>
              <a:t>Architecture en couches</a:t>
            </a:r>
            <a:endParaRPr lang="en-US" sz="3000" dirty="0"/>
          </a:p>
        </p:txBody>
      </p:sp>
      <p:sp>
        <p:nvSpPr>
          <p:cNvPr id="4" name="Text 2"/>
          <p:cNvSpPr/>
          <p:nvPr/>
        </p:nvSpPr>
        <p:spPr>
          <a:xfrm>
            <a:off x="548640" y="1417320"/>
            <a:ext cx="10972800" cy="36576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Une architecture strictement séparée : chaque couche ne communique qu'avec la couche adjacente.</a:t>
            </a:r>
            <a:endParaRPr lang="en-US" sz="1400" dirty="0"/>
          </a:p>
        </p:txBody>
      </p:sp>
      <p:sp>
        <p:nvSpPr>
          <p:cNvPr id="5" name="Shape 3"/>
          <p:cNvSpPr/>
          <p:nvPr/>
        </p:nvSpPr>
        <p:spPr>
          <a:xfrm>
            <a:off x="548640" y="2148840"/>
            <a:ext cx="2606040" cy="3291840"/>
          </a:xfrm>
          <a:prstGeom prst="roundRect">
            <a:avLst>
              <a:gd name="adj" fmla="val 2456"/>
            </a:avLst>
          </a:prstGeom>
          <a:solidFill>
            <a:srgbClr val="6E2C2C"/>
          </a:solidFill>
          <a:ln w="12700">
            <a:solidFill>
              <a:srgbClr val="6E2C2C"/>
            </a:solidFill>
            <a:prstDash val="solid"/>
          </a:ln>
        </p:spPr>
      </p:sp>
      <p:sp>
        <p:nvSpPr>
          <p:cNvPr id="6" name="Text 4"/>
          <p:cNvSpPr/>
          <p:nvPr/>
        </p:nvSpPr>
        <p:spPr>
          <a:xfrm>
            <a:off x="777240" y="2377440"/>
            <a:ext cx="2148840" cy="457200"/>
          </a:xfrm>
          <a:prstGeom prst="rect">
            <a:avLst/>
          </a:prstGeom>
          <a:noFill/>
          <a:ln/>
        </p:spPr>
        <p:txBody>
          <a:bodyPr wrap="square" lIns="0" tIns="0" rIns="0" bIns="0" rtlCol="0" anchor="ctr"/>
          <a:lstStyle/>
          <a:p>
            <a:pPr marL="0" indent="0">
              <a:buNone/>
            </a:pPr>
            <a:r>
              <a:rPr lang="en-US" sz="2000" b="1" dirty="0">
                <a:solidFill>
                  <a:srgbClr val="B8863F"/>
                </a:solidFill>
                <a:latin typeface="Cambria" pitchFamily="34" charset="0"/>
                <a:ea typeface="Cambria" pitchFamily="34" charset="-122"/>
                <a:cs typeface="Cambria" pitchFamily="34" charset="-120"/>
              </a:rPr>
              <a:t>01</a:t>
            </a:r>
            <a:endParaRPr lang="en-US" sz="2000" dirty="0"/>
          </a:p>
        </p:txBody>
      </p:sp>
      <p:sp>
        <p:nvSpPr>
          <p:cNvPr id="7" name="Text 5"/>
          <p:cNvSpPr/>
          <p:nvPr/>
        </p:nvSpPr>
        <p:spPr>
          <a:xfrm>
            <a:off x="777240" y="2834640"/>
            <a:ext cx="2148840" cy="5486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Présentation</a:t>
            </a:r>
            <a:endParaRPr lang="en-US" sz="1700" dirty="0"/>
          </a:p>
        </p:txBody>
      </p:sp>
      <p:sp>
        <p:nvSpPr>
          <p:cNvPr id="8" name="Text 6"/>
          <p:cNvSpPr/>
          <p:nvPr/>
        </p:nvSpPr>
        <p:spPr>
          <a:xfrm>
            <a:off x="777240" y="3429000"/>
            <a:ext cx="2148840" cy="1828800"/>
          </a:xfrm>
          <a:prstGeom prst="rect">
            <a:avLst/>
          </a:prstGeom>
          <a:noFill/>
          <a:ln/>
        </p:spPr>
        <p:txBody>
          <a:bodyPr wrap="square" lIns="0" tIns="0" rIns="0" bIns="0" rtlCol="0" anchor="ctr"/>
          <a:lstStyle/>
          <a:p>
            <a:pPr marL="0" indent="0">
              <a:lnSpc>
                <a:spcPct val="120000"/>
              </a:lnSpc>
              <a:buNone/>
            </a:pPr>
            <a:r>
              <a:rPr lang="en-US" sz="1250" dirty="0">
                <a:solidFill>
                  <a:srgbClr val="EFE6DD"/>
                </a:solidFill>
                <a:latin typeface="Calibri" pitchFamily="34" charset="0"/>
                <a:ea typeface="Calibri" pitchFamily="34" charset="-122"/>
                <a:cs typeface="Calibri" pitchFamily="34" charset="-120"/>
              </a:rPr>
              <a:t>Contrôleurs Spring MVC et vues Thymeleaf / Bootstrap 5</a:t>
            </a:r>
            <a:endParaRPr lang="en-US" sz="1250" dirty="0"/>
          </a:p>
        </p:txBody>
      </p:sp>
      <p:sp>
        <p:nvSpPr>
          <p:cNvPr id="9" name="Shape 7"/>
          <p:cNvSpPr/>
          <p:nvPr/>
        </p:nvSpPr>
        <p:spPr>
          <a:xfrm>
            <a:off x="3383280" y="2148840"/>
            <a:ext cx="2606040" cy="3291840"/>
          </a:xfrm>
          <a:prstGeom prst="roundRect">
            <a:avLst>
              <a:gd name="adj" fmla="val 2456"/>
            </a:avLst>
          </a:prstGeom>
          <a:solidFill>
            <a:srgbClr val="FBFAF8"/>
          </a:solidFill>
          <a:ln w="12700">
            <a:solidFill>
              <a:srgbClr val="E3DDD3"/>
            </a:solidFill>
            <a:prstDash val="solid"/>
          </a:ln>
        </p:spPr>
      </p:sp>
      <p:sp>
        <p:nvSpPr>
          <p:cNvPr id="10" name="Text 8"/>
          <p:cNvSpPr/>
          <p:nvPr/>
        </p:nvSpPr>
        <p:spPr>
          <a:xfrm>
            <a:off x="3611880" y="2377440"/>
            <a:ext cx="2148840" cy="457200"/>
          </a:xfrm>
          <a:prstGeom prst="rect">
            <a:avLst/>
          </a:prstGeom>
          <a:noFill/>
          <a:ln/>
        </p:spPr>
        <p:txBody>
          <a:bodyPr wrap="square" lIns="0" tIns="0" rIns="0" bIns="0" rtlCol="0" anchor="ctr"/>
          <a:lstStyle/>
          <a:p>
            <a:pPr marL="0" indent="0">
              <a:buNone/>
            </a:pPr>
            <a:r>
              <a:rPr lang="en-US" sz="2000" b="1" dirty="0">
                <a:solidFill>
                  <a:srgbClr val="6E2C2C"/>
                </a:solidFill>
                <a:latin typeface="Cambria" pitchFamily="34" charset="0"/>
                <a:ea typeface="Cambria" pitchFamily="34" charset="-122"/>
                <a:cs typeface="Cambria" pitchFamily="34" charset="-120"/>
              </a:rPr>
              <a:t>02</a:t>
            </a:r>
            <a:endParaRPr lang="en-US" sz="2000" dirty="0"/>
          </a:p>
        </p:txBody>
      </p:sp>
      <p:sp>
        <p:nvSpPr>
          <p:cNvPr id="11" name="Text 9"/>
          <p:cNvSpPr/>
          <p:nvPr/>
        </p:nvSpPr>
        <p:spPr>
          <a:xfrm>
            <a:off x="3611880" y="2834640"/>
            <a:ext cx="2148840" cy="548640"/>
          </a:xfrm>
          <a:prstGeom prst="rect">
            <a:avLst/>
          </a:prstGeom>
          <a:noFill/>
          <a:ln/>
        </p:spPr>
        <p:txBody>
          <a:bodyPr wrap="square" lIns="0" tIns="0" rIns="0" bIns="0" rtlCol="0" anchor="ctr"/>
          <a:lstStyle/>
          <a:p>
            <a:pPr marL="0" indent="0">
              <a:buNone/>
            </a:pPr>
            <a:r>
              <a:rPr lang="en-US" sz="1700" b="1" dirty="0">
                <a:solidFill>
                  <a:srgbClr val="6E2C2C"/>
                </a:solidFill>
                <a:latin typeface="Cambria" pitchFamily="34" charset="0"/>
                <a:ea typeface="Cambria" pitchFamily="34" charset="-122"/>
                <a:cs typeface="Cambria" pitchFamily="34" charset="-120"/>
              </a:rPr>
              <a:t>Sécurité</a:t>
            </a:r>
            <a:endParaRPr lang="en-US" sz="1700" dirty="0"/>
          </a:p>
        </p:txBody>
      </p:sp>
      <p:sp>
        <p:nvSpPr>
          <p:cNvPr id="12" name="Text 10"/>
          <p:cNvSpPr/>
          <p:nvPr/>
        </p:nvSpPr>
        <p:spPr>
          <a:xfrm>
            <a:off x="3611880" y="3429000"/>
            <a:ext cx="2148840" cy="1828800"/>
          </a:xfrm>
          <a:prstGeom prst="rect">
            <a:avLst/>
          </a:prstGeom>
          <a:noFill/>
          <a:ln/>
        </p:spPr>
        <p:txBody>
          <a:bodyPr wrap="square" lIns="0" tIns="0" rIns="0" bIns="0" rtlCol="0" anchor="ctr"/>
          <a:lstStyle/>
          <a:p>
            <a:pPr marL="0" indent="0">
              <a:lnSpc>
                <a:spcPct val="120000"/>
              </a:lnSpc>
              <a:buNone/>
            </a:pPr>
            <a:r>
              <a:rPr lang="en-US" sz="1250" dirty="0">
                <a:solidFill>
                  <a:srgbClr val="333333"/>
                </a:solidFill>
                <a:latin typeface="Calibri" pitchFamily="34" charset="0"/>
                <a:ea typeface="Calibri" pitchFamily="34" charset="-122"/>
                <a:cs typeface="Calibri" pitchFamily="34" charset="-120"/>
              </a:rPr>
              <a:t>Spring Security — authentification et contrôle d'accès</a:t>
            </a:r>
            <a:endParaRPr lang="en-US" sz="1250" dirty="0"/>
          </a:p>
        </p:txBody>
      </p:sp>
      <p:sp>
        <p:nvSpPr>
          <p:cNvPr id="13" name="Shape 11"/>
          <p:cNvSpPr/>
          <p:nvPr/>
        </p:nvSpPr>
        <p:spPr>
          <a:xfrm>
            <a:off x="6217920" y="2148840"/>
            <a:ext cx="2606040" cy="3291840"/>
          </a:xfrm>
          <a:prstGeom prst="roundRect">
            <a:avLst>
              <a:gd name="adj" fmla="val 2456"/>
            </a:avLst>
          </a:prstGeom>
          <a:solidFill>
            <a:srgbClr val="6E2C2C"/>
          </a:solidFill>
          <a:ln w="12700">
            <a:solidFill>
              <a:srgbClr val="6E2C2C"/>
            </a:solidFill>
            <a:prstDash val="solid"/>
          </a:ln>
        </p:spPr>
      </p:sp>
      <p:sp>
        <p:nvSpPr>
          <p:cNvPr id="14" name="Text 12"/>
          <p:cNvSpPr/>
          <p:nvPr/>
        </p:nvSpPr>
        <p:spPr>
          <a:xfrm>
            <a:off x="6446520" y="2377440"/>
            <a:ext cx="2148840" cy="457200"/>
          </a:xfrm>
          <a:prstGeom prst="rect">
            <a:avLst/>
          </a:prstGeom>
          <a:noFill/>
          <a:ln/>
        </p:spPr>
        <p:txBody>
          <a:bodyPr wrap="square" lIns="0" tIns="0" rIns="0" bIns="0" rtlCol="0" anchor="ctr"/>
          <a:lstStyle/>
          <a:p>
            <a:pPr marL="0" indent="0">
              <a:buNone/>
            </a:pPr>
            <a:r>
              <a:rPr lang="en-US" sz="2000" b="1" dirty="0">
                <a:solidFill>
                  <a:srgbClr val="B8863F"/>
                </a:solidFill>
                <a:latin typeface="Cambria" pitchFamily="34" charset="0"/>
                <a:ea typeface="Cambria" pitchFamily="34" charset="-122"/>
                <a:cs typeface="Cambria" pitchFamily="34" charset="-120"/>
              </a:rPr>
              <a:t>03</a:t>
            </a:r>
            <a:endParaRPr lang="en-US" sz="2000" dirty="0"/>
          </a:p>
        </p:txBody>
      </p:sp>
      <p:sp>
        <p:nvSpPr>
          <p:cNvPr id="15" name="Text 13"/>
          <p:cNvSpPr/>
          <p:nvPr/>
        </p:nvSpPr>
        <p:spPr>
          <a:xfrm>
            <a:off x="6446520" y="2834640"/>
            <a:ext cx="2148840" cy="5486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Métier</a:t>
            </a:r>
            <a:endParaRPr lang="en-US" sz="1700" dirty="0"/>
          </a:p>
        </p:txBody>
      </p:sp>
      <p:sp>
        <p:nvSpPr>
          <p:cNvPr id="16" name="Text 14"/>
          <p:cNvSpPr/>
          <p:nvPr/>
        </p:nvSpPr>
        <p:spPr>
          <a:xfrm>
            <a:off x="6446520" y="3429000"/>
            <a:ext cx="2148840" cy="1828800"/>
          </a:xfrm>
          <a:prstGeom prst="rect">
            <a:avLst/>
          </a:prstGeom>
          <a:noFill/>
          <a:ln/>
        </p:spPr>
        <p:txBody>
          <a:bodyPr wrap="square" lIns="0" tIns="0" rIns="0" bIns="0" rtlCol="0" anchor="ctr"/>
          <a:lstStyle/>
          <a:p>
            <a:pPr marL="0" indent="0">
              <a:lnSpc>
                <a:spcPct val="120000"/>
              </a:lnSpc>
              <a:buNone/>
            </a:pPr>
            <a:r>
              <a:rPr lang="en-US" sz="1250" dirty="0">
                <a:solidFill>
                  <a:srgbClr val="EFE6DD"/>
                </a:solidFill>
                <a:latin typeface="Calibri" pitchFamily="34" charset="0"/>
                <a:ea typeface="Calibri" pitchFamily="34" charset="-122"/>
                <a:cs typeface="Calibri" pitchFamily="34" charset="-120"/>
              </a:rPr>
              <a:t>Services (interfaces + implémentations), DTO, Mappers, Validation</a:t>
            </a:r>
            <a:endParaRPr lang="en-US" sz="1250" dirty="0"/>
          </a:p>
        </p:txBody>
      </p:sp>
      <p:sp>
        <p:nvSpPr>
          <p:cNvPr id="17" name="Shape 15"/>
          <p:cNvSpPr/>
          <p:nvPr/>
        </p:nvSpPr>
        <p:spPr>
          <a:xfrm>
            <a:off x="9052560" y="2148840"/>
            <a:ext cx="2606040" cy="3291840"/>
          </a:xfrm>
          <a:prstGeom prst="roundRect">
            <a:avLst>
              <a:gd name="adj" fmla="val 2456"/>
            </a:avLst>
          </a:prstGeom>
          <a:solidFill>
            <a:srgbClr val="FBFAF8"/>
          </a:solidFill>
          <a:ln w="12700">
            <a:solidFill>
              <a:srgbClr val="E3DDD3"/>
            </a:solidFill>
            <a:prstDash val="solid"/>
          </a:ln>
        </p:spPr>
      </p:sp>
      <p:sp>
        <p:nvSpPr>
          <p:cNvPr id="18" name="Text 16"/>
          <p:cNvSpPr/>
          <p:nvPr/>
        </p:nvSpPr>
        <p:spPr>
          <a:xfrm>
            <a:off x="9281160" y="2377440"/>
            <a:ext cx="2148840" cy="457200"/>
          </a:xfrm>
          <a:prstGeom prst="rect">
            <a:avLst/>
          </a:prstGeom>
          <a:noFill/>
          <a:ln/>
        </p:spPr>
        <p:txBody>
          <a:bodyPr wrap="square" lIns="0" tIns="0" rIns="0" bIns="0" rtlCol="0" anchor="ctr"/>
          <a:lstStyle/>
          <a:p>
            <a:pPr marL="0" indent="0">
              <a:buNone/>
            </a:pPr>
            <a:r>
              <a:rPr lang="en-US" sz="2000" b="1" dirty="0">
                <a:solidFill>
                  <a:srgbClr val="6E2C2C"/>
                </a:solidFill>
                <a:latin typeface="Cambria" pitchFamily="34" charset="0"/>
                <a:ea typeface="Cambria" pitchFamily="34" charset="-122"/>
                <a:cs typeface="Cambria" pitchFamily="34" charset="-120"/>
              </a:rPr>
              <a:t>04</a:t>
            </a:r>
            <a:endParaRPr lang="en-US" sz="2000" dirty="0"/>
          </a:p>
        </p:txBody>
      </p:sp>
      <p:sp>
        <p:nvSpPr>
          <p:cNvPr id="19" name="Text 17"/>
          <p:cNvSpPr/>
          <p:nvPr/>
        </p:nvSpPr>
        <p:spPr>
          <a:xfrm>
            <a:off x="9281160" y="2834640"/>
            <a:ext cx="2148840" cy="548640"/>
          </a:xfrm>
          <a:prstGeom prst="rect">
            <a:avLst/>
          </a:prstGeom>
          <a:noFill/>
          <a:ln/>
        </p:spPr>
        <p:txBody>
          <a:bodyPr wrap="square" lIns="0" tIns="0" rIns="0" bIns="0" rtlCol="0" anchor="ctr"/>
          <a:lstStyle/>
          <a:p>
            <a:pPr marL="0" indent="0">
              <a:buNone/>
            </a:pPr>
            <a:r>
              <a:rPr lang="en-US" sz="1700" b="1" dirty="0">
                <a:solidFill>
                  <a:srgbClr val="6E2C2C"/>
                </a:solidFill>
                <a:latin typeface="Cambria" pitchFamily="34" charset="0"/>
                <a:ea typeface="Cambria" pitchFamily="34" charset="-122"/>
                <a:cs typeface="Cambria" pitchFamily="34" charset="-120"/>
              </a:rPr>
              <a:t>Persistance</a:t>
            </a:r>
            <a:endParaRPr lang="en-US" sz="1700" dirty="0"/>
          </a:p>
        </p:txBody>
      </p:sp>
      <p:sp>
        <p:nvSpPr>
          <p:cNvPr id="20" name="Text 18"/>
          <p:cNvSpPr/>
          <p:nvPr/>
        </p:nvSpPr>
        <p:spPr>
          <a:xfrm>
            <a:off x="9281160" y="3429000"/>
            <a:ext cx="2148840" cy="1828800"/>
          </a:xfrm>
          <a:prstGeom prst="rect">
            <a:avLst/>
          </a:prstGeom>
          <a:noFill/>
          <a:ln/>
        </p:spPr>
        <p:txBody>
          <a:bodyPr wrap="square" lIns="0" tIns="0" rIns="0" bIns="0" rtlCol="0" anchor="ctr"/>
          <a:lstStyle/>
          <a:p>
            <a:pPr marL="0" indent="0">
              <a:lnSpc>
                <a:spcPct val="120000"/>
              </a:lnSpc>
              <a:buNone/>
            </a:pPr>
            <a:r>
              <a:rPr lang="en-US" sz="1250" dirty="0">
                <a:solidFill>
                  <a:srgbClr val="333333"/>
                </a:solidFill>
                <a:latin typeface="Calibri" pitchFamily="34" charset="0"/>
                <a:ea typeface="Calibri" pitchFamily="34" charset="-122"/>
                <a:cs typeface="Calibri" pitchFamily="34" charset="-120"/>
              </a:rPr>
              <a:t>Repositories Spring Data JPA et base PostgreSQL</a:t>
            </a:r>
            <a:endParaRPr lang="en-US" sz="1250" dirty="0"/>
          </a:p>
        </p:txBody>
      </p:sp>
      <p:sp>
        <p:nvSpPr>
          <p:cNvPr id="21" name="Text 19"/>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CitizenConnect</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B8863F"/>
                </a:solidFill>
                <a:latin typeface="Calibri" pitchFamily="34" charset="0"/>
                <a:ea typeface="Calibri" pitchFamily="34" charset="-122"/>
                <a:cs typeface="Calibri" pitchFamily="34" charset="-120"/>
              </a:rPr>
              <a:t>CHAPITRE 3</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marL="0" indent="0">
              <a:buNone/>
            </a:pPr>
            <a:r>
              <a:rPr lang="en-US" sz="3000" b="1" dirty="0">
                <a:solidFill>
                  <a:srgbClr val="6E2C2C"/>
                </a:solidFill>
                <a:latin typeface="Cambria" pitchFamily="34" charset="0"/>
                <a:ea typeface="Cambria" pitchFamily="34" charset="-122"/>
                <a:cs typeface="Cambria" pitchFamily="34" charset="-120"/>
              </a:rPr>
              <a:t>Modèle de données</a:t>
            </a:r>
            <a:endParaRPr lang="en-US" sz="3000" dirty="0"/>
          </a:p>
        </p:txBody>
      </p:sp>
      <p:sp>
        <p:nvSpPr>
          <p:cNvPr id="4" name="Text 2"/>
          <p:cNvSpPr/>
          <p:nvPr/>
        </p:nvSpPr>
        <p:spPr>
          <a:xfrm>
            <a:off x="548640" y="1417320"/>
            <a:ext cx="10972800" cy="36576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Sept entités structurent le domaine métier de la plateforme.</a:t>
            </a:r>
            <a:endParaRPr lang="en-US" sz="1400" dirty="0"/>
          </a:p>
        </p:txBody>
      </p:sp>
      <p:sp>
        <p:nvSpPr>
          <p:cNvPr id="5" name="Shape 3"/>
          <p:cNvSpPr/>
          <p:nvPr/>
        </p:nvSpPr>
        <p:spPr>
          <a:xfrm>
            <a:off x="548640" y="1965960"/>
            <a:ext cx="2606040" cy="1417320"/>
          </a:xfrm>
          <a:prstGeom prst="roundRect">
            <a:avLst>
              <a:gd name="adj" fmla="val 3871"/>
            </a:avLst>
          </a:prstGeom>
          <a:solidFill>
            <a:srgbClr val="FBFAF8"/>
          </a:solidFill>
          <a:ln w="12700">
            <a:solidFill>
              <a:srgbClr val="E3DDD3"/>
            </a:solidFill>
            <a:prstDash val="solid"/>
          </a:ln>
        </p:spPr>
      </p:sp>
      <p:sp>
        <p:nvSpPr>
          <p:cNvPr id="6" name="Shape 4"/>
          <p:cNvSpPr/>
          <p:nvPr/>
        </p:nvSpPr>
        <p:spPr>
          <a:xfrm>
            <a:off x="548640" y="1965960"/>
            <a:ext cx="73152" cy="1417320"/>
          </a:xfrm>
          <a:prstGeom prst="rect">
            <a:avLst/>
          </a:prstGeom>
          <a:solidFill>
            <a:srgbClr val="6E2C2C"/>
          </a:solidFill>
          <a:ln/>
        </p:spPr>
      </p:sp>
      <p:sp>
        <p:nvSpPr>
          <p:cNvPr id="7" name="Text 5"/>
          <p:cNvSpPr/>
          <p:nvPr/>
        </p:nvSpPr>
        <p:spPr>
          <a:xfrm>
            <a:off x="777240" y="2103120"/>
            <a:ext cx="2240280" cy="365760"/>
          </a:xfrm>
          <a:prstGeom prst="rect">
            <a:avLst/>
          </a:prstGeom>
          <a:noFill/>
          <a:ln/>
        </p:spPr>
        <p:txBody>
          <a:bodyPr wrap="square" lIns="0" tIns="0" rIns="0" bIns="0" rtlCol="0" anchor="ctr"/>
          <a:lstStyle/>
          <a:p>
            <a:pPr marL="0" indent="0">
              <a:buNone/>
            </a:pPr>
            <a:r>
              <a:rPr lang="en-US" sz="1600" b="1" dirty="0">
                <a:solidFill>
                  <a:srgbClr val="6E2C2C"/>
                </a:solidFill>
                <a:latin typeface="Cambria" pitchFamily="34" charset="0"/>
                <a:ea typeface="Cambria" pitchFamily="34" charset="-122"/>
                <a:cs typeface="Cambria" pitchFamily="34" charset="-120"/>
              </a:rPr>
              <a:t>User</a:t>
            </a:r>
            <a:endParaRPr lang="en-US" sz="1600" dirty="0"/>
          </a:p>
        </p:txBody>
      </p:sp>
      <p:sp>
        <p:nvSpPr>
          <p:cNvPr id="8" name="Text 6"/>
          <p:cNvSpPr/>
          <p:nvPr/>
        </p:nvSpPr>
        <p:spPr>
          <a:xfrm>
            <a:off x="777240" y="2496312"/>
            <a:ext cx="2240280" cy="822960"/>
          </a:xfrm>
          <a:prstGeom prst="rect">
            <a:avLst/>
          </a:prstGeom>
          <a:noFill/>
          <a:ln/>
        </p:spPr>
        <p:txBody>
          <a:bodyPr wrap="square" lIns="0" tIns="0" rIns="0" bIns="0" rtlCol="0" anchor="ctr"/>
          <a:lstStyle/>
          <a:p>
            <a:pPr marL="0" indent="0">
              <a:lnSpc>
                <a:spcPct val="115000"/>
              </a:lnSpc>
              <a:buNone/>
            </a:pPr>
            <a:r>
              <a:rPr lang="en-US" sz="1150" dirty="0">
                <a:solidFill>
                  <a:srgbClr val="333333"/>
                </a:solidFill>
                <a:latin typeface="Calibri" pitchFamily="34" charset="0"/>
                <a:ea typeface="Calibri" pitchFamily="34" charset="-122"/>
                <a:cs typeface="Calibri" pitchFamily="34" charset="-120"/>
              </a:rPr>
              <a:t>Comptes citoyens, agents et administrateurs</a:t>
            </a:r>
            <a:endParaRPr lang="en-US" sz="1150" dirty="0"/>
          </a:p>
        </p:txBody>
      </p:sp>
      <p:sp>
        <p:nvSpPr>
          <p:cNvPr id="9" name="Shape 7"/>
          <p:cNvSpPr/>
          <p:nvPr/>
        </p:nvSpPr>
        <p:spPr>
          <a:xfrm>
            <a:off x="3355848" y="1965960"/>
            <a:ext cx="2606040" cy="1417320"/>
          </a:xfrm>
          <a:prstGeom prst="roundRect">
            <a:avLst>
              <a:gd name="adj" fmla="val 3871"/>
            </a:avLst>
          </a:prstGeom>
          <a:solidFill>
            <a:srgbClr val="FBFAF8"/>
          </a:solidFill>
          <a:ln w="12700">
            <a:solidFill>
              <a:srgbClr val="E3DDD3"/>
            </a:solidFill>
            <a:prstDash val="solid"/>
          </a:ln>
        </p:spPr>
      </p:sp>
      <p:sp>
        <p:nvSpPr>
          <p:cNvPr id="10" name="Shape 8"/>
          <p:cNvSpPr/>
          <p:nvPr/>
        </p:nvSpPr>
        <p:spPr>
          <a:xfrm>
            <a:off x="3355848" y="1965960"/>
            <a:ext cx="73152" cy="1417320"/>
          </a:xfrm>
          <a:prstGeom prst="rect">
            <a:avLst/>
          </a:prstGeom>
          <a:solidFill>
            <a:srgbClr val="6E2C2C"/>
          </a:solidFill>
          <a:ln/>
        </p:spPr>
      </p:sp>
      <p:sp>
        <p:nvSpPr>
          <p:cNvPr id="11" name="Text 9"/>
          <p:cNvSpPr/>
          <p:nvPr/>
        </p:nvSpPr>
        <p:spPr>
          <a:xfrm>
            <a:off x="3584448" y="2103120"/>
            <a:ext cx="2240280" cy="365760"/>
          </a:xfrm>
          <a:prstGeom prst="rect">
            <a:avLst/>
          </a:prstGeom>
          <a:noFill/>
          <a:ln/>
        </p:spPr>
        <p:txBody>
          <a:bodyPr wrap="square" lIns="0" tIns="0" rIns="0" bIns="0" rtlCol="0" anchor="ctr"/>
          <a:lstStyle/>
          <a:p>
            <a:pPr marL="0" indent="0">
              <a:buNone/>
            </a:pPr>
            <a:r>
              <a:rPr lang="en-US" sz="1600" b="1" dirty="0">
                <a:solidFill>
                  <a:srgbClr val="6E2C2C"/>
                </a:solidFill>
                <a:latin typeface="Cambria" pitchFamily="34" charset="0"/>
                <a:ea typeface="Cambria" pitchFamily="34" charset="-122"/>
                <a:cs typeface="Cambria" pitchFamily="34" charset="-120"/>
              </a:rPr>
              <a:t>Role</a:t>
            </a:r>
            <a:endParaRPr lang="en-US" sz="1600" dirty="0"/>
          </a:p>
        </p:txBody>
      </p:sp>
      <p:sp>
        <p:nvSpPr>
          <p:cNvPr id="12" name="Text 10"/>
          <p:cNvSpPr/>
          <p:nvPr/>
        </p:nvSpPr>
        <p:spPr>
          <a:xfrm>
            <a:off x="3584448" y="2496312"/>
            <a:ext cx="2240280" cy="822960"/>
          </a:xfrm>
          <a:prstGeom prst="rect">
            <a:avLst/>
          </a:prstGeom>
          <a:noFill/>
          <a:ln/>
        </p:spPr>
        <p:txBody>
          <a:bodyPr wrap="square" lIns="0" tIns="0" rIns="0" bIns="0" rtlCol="0" anchor="ctr"/>
          <a:lstStyle/>
          <a:p>
            <a:pPr marL="0" indent="0">
              <a:lnSpc>
                <a:spcPct val="115000"/>
              </a:lnSpc>
              <a:buNone/>
            </a:pPr>
            <a:r>
              <a:rPr lang="en-US" sz="1150" dirty="0">
                <a:solidFill>
                  <a:srgbClr val="333333"/>
                </a:solidFill>
                <a:latin typeface="Calibri" pitchFamily="34" charset="0"/>
                <a:ea typeface="Calibri" pitchFamily="34" charset="-122"/>
                <a:cs typeface="Calibri" pitchFamily="34" charset="-120"/>
              </a:rPr>
              <a:t>ROLE_CITIZEN, ROLE_AGENT, ROLE_ADMIN</a:t>
            </a:r>
            <a:endParaRPr lang="en-US" sz="1150" dirty="0"/>
          </a:p>
        </p:txBody>
      </p:sp>
      <p:sp>
        <p:nvSpPr>
          <p:cNvPr id="13" name="Shape 11"/>
          <p:cNvSpPr/>
          <p:nvPr/>
        </p:nvSpPr>
        <p:spPr>
          <a:xfrm>
            <a:off x="6163056" y="1965960"/>
            <a:ext cx="2606040" cy="1417320"/>
          </a:xfrm>
          <a:prstGeom prst="roundRect">
            <a:avLst>
              <a:gd name="adj" fmla="val 3871"/>
            </a:avLst>
          </a:prstGeom>
          <a:solidFill>
            <a:srgbClr val="FBFAF8"/>
          </a:solidFill>
          <a:ln w="12700">
            <a:solidFill>
              <a:srgbClr val="E3DDD3"/>
            </a:solidFill>
            <a:prstDash val="solid"/>
          </a:ln>
        </p:spPr>
      </p:sp>
      <p:sp>
        <p:nvSpPr>
          <p:cNvPr id="14" name="Shape 12"/>
          <p:cNvSpPr/>
          <p:nvPr/>
        </p:nvSpPr>
        <p:spPr>
          <a:xfrm>
            <a:off x="6163056" y="1965960"/>
            <a:ext cx="73152" cy="1417320"/>
          </a:xfrm>
          <a:prstGeom prst="rect">
            <a:avLst/>
          </a:prstGeom>
          <a:solidFill>
            <a:srgbClr val="6E2C2C"/>
          </a:solidFill>
          <a:ln/>
        </p:spPr>
      </p:sp>
      <p:sp>
        <p:nvSpPr>
          <p:cNvPr id="15" name="Text 13"/>
          <p:cNvSpPr/>
          <p:nvPr/>
        </p:nvSpPr>
        <p:spPr>
          <a:xfrm>
            <a:off x="6391656" y="2103120"/>
            <a:ext cx="2240280" cy="365760"/>
          </a:xfrm>
          <a:prstGeom prst="rect">
            <a:avLst/>
          </a:prstGeom>
          <a:noFill/>
          <a:ln/>
        </p:spPr>
        <p:txBody>
          <a:bodyPr wrap="square" lIns="0" tIns="0" rIns="0" bIns="0" rtlCol="0" anchor="ctr"/>
          <a:lstStyle/>
          <a:p>
            <a:pPr marL="0" indent="0">
              <a:buNone/>
            </a:pPr>
            <a:r>
              <a:rPr lang="en-US" sz="1600" b="1" dirty="0">
                <a:solidFill>
                  <a:srgbClr val="6E2C2C"/>
                </a:solidFill>
                <a:latin typeface="Cambria" pitchFamily="34" charset="0"/>
                <a:ea typeface="Cambria" pitchFamily="34" charset="-122"/>
                <a:cs typeface="Cambria" pitchFamily="34" charset="-120"/>
              </a:rPr>
              <a:t>Category</a:t>
            </a:r>
            <a:endParaRPr lang="en-US" sz="1600" dirty="0"/>
          </a:p>
        </p:txBody>
      </p:sp>
      <p:sp>
        <p:nvSpPr>
          <p:cNvPr id="16" name="Text 14"/>
          <p:cNvSpPr/>
          <p:nvPr/>
        </p:nvSpPr>
        <p:spPr>
          <a:xfrm>
            <a:off x="6391656" y="2496312"/>
            <a:ext cx="2240280" cy="822960"/>
          </a:xfrm>
          <a:prstGeom prst="rect">
            <a:avLst/>
          </a:prstGeom>
          <a:noFill/>
          <a:ln/>
        </p:spPr>
        <p:txBody>
          <a:bodyPr wrap="square" lIns="0" tIns="0" rIns="0" bIns="0" rtlCol="0" anchor="ctr"/>
          <a:lstStyle/>
          <a:p>
            <a:pPr marL="0" indent="0">
              <a:lnSpc>
                <a:spcPct val="115000"/>
              </a:lnSpc>
              <a:buNone/>
            </a:pPr>
            <a:r>
              <a:rPr lang="en-US" sz="1150" dirty="0">
                <a:solidFill>
                  <a:srgbClr val="333333"/>
                </a:solidFill>
                <a:latin typeface="Calibri" pitchFamily="34" charset="0"/>
                <a:ea typeface="Calibri" pitchFamily="34" charset="-122"/>
                <a:cs typeface="Calibri" pitchFamily="34" charset="-120"/>
              </a:rPr>
              <a:t>Catégories de service (voirie, propreté...)</a:t>
            </a:r>
            <a:endParaRPr lang="en-US" sz="1150" dirty="0"/>
          </a:p>
        </p:txBody>
      </p:sp>
      <p:sp>
        <p:nvSpPr>
          <p:cNvPr id="17" name="Shape 15"/>
          <p:cNvSpPr/>
          <p:nvPr/>
        </p:nvSpPr>
        <p:spPr>
          <a:xfrm>
            <a:off x="8970264" y="1965960"/>
            <a:ext cx="2606040" cy="1417320"/>
          </a:xfrm>
          <a:prstGeom prst="roundRect">
            <a:avLst>
              <a:gd name="adj" fmla="val 3871"/>
            </a:avLst>
          </a:prstGeom>
          <a:solidFill>
            <a:srgbClr val="FBFAF8"/>
          </a:solidFill>
          <a:ln w="12700">
            <a:solidFill>
              <a:srgbClr val="E3DDD3"/>
            </a:solidFill>
            <a:prstDash val="solid"/>
          </a:ln>
        </p:spPr>
      </p:sp>
      <p:sp>
        <p:nvSpPr>
          <p:cNvPr id="18" name="Shape 16"/>
          <p:cNvSpPr/>
          <p:nvPr/>
        </p:nvSpPr>
        <p:spPr>
          <a:xfrm>
            <a:off x="8970264" y="1965960"/>
            <a:ext cx="73152" cy="1417320"/>
          </a:xfrm>
          <a:prstGeom prst="rect">
            <a:avLst/>
          </a:prstGeom>
          <a:solidFill>
            <a:srgbClr val="6E2C2C"/>
          </a:solidFill>
          <a:ln/>
        </p:spPr>
      </p:sp>
      <p:sp>
        <p:nvSpPr>
          <p:cNvPr id="19" name="Text 17"/>
          <p:cNvSpPr/>
          <p:nvPr/>
        </p:nvSpPr>
        <p:spPr>
          <a:xfrm>
            <a:off x="9198864" y="2103120"/>
            <a:ext cx="2240280" cy="365760"/>
          </a:xfrm>
          <a:prstGeom prst="rect">
            <a:avLst/>
          </a:prstGeom>
          <a:noFill/>
          <a:ln/>
        </p:spPr>
        <p:txBody>
          <a:bodyPr wrap="square" lIns="0" tIns="0" rIns="0" bIns="0" rtlCol="0" anchor="ctr"/>
          <a:lstStyle/>
          <a:p>
            <a:pPr marL="0" indent="0">
              <a:buNone/>
            </a:pPr>
            <a:r>
              <a:rPr lang="en-US" sz="1600" b="1" dirty="0">
                <a:solidFill>
                  <a:srgbClr val="6E2C2C"/>
                </a:solidFill>
                <a:latin typeface="Cambria" pitchFamily="34" charset="0"/>
                <a:ea typeface="Cambria" pitchFamily="34" charset="-122"/>
                <a:cs typeface="Cambria" pitchFamily="34" charset="-120"/>
              </a:rPr>
              <a:t>Complaint</a:t>
            </a:r>
            <a:endParaRPr lang="en-US" sz="1600" dirty="0"/>
          </a:p>
        </p:txBody>
      </p:sp>
      <p:sp>
        <p:nvSpPr>
          <p:cNvPr id="20" name="Text 18"/>
          <p:cNvSpPr/>
          <p:nvPr/>
        </p:nvSpPr>
        <p:spPr>
          <a:xfrm>
            <a:off x="9198864" y="2496312"/>
            <a:ext cx="2240280" cy="822960"/>
          </a:xfrm>
          <a:prstGeom prst="rect">
            <a:avLst/>
          </a:prstGeom>
          <a:noFill/>
          <a:ln/>
        </p:spPr>
        <p:txBody>
          <a:bodyPr wrap="square" lIns="0" tIns="0" rIns="0" bIns="0" rtlCol="0" anchor="ctr"/>
          <a:lstStyle/>
          <a:p>
            <a:pPr marL="0" indent="0">
              <a:lnSpc>
                <a:spcPct val="115000"/>
              </a:lnSpc>
              <a:buNone/>
            </a:pPr>
            <a:r>
              <a:rPr lang="en-US" sz="1150" dirty="0">
                <a:solidFill>
                  <a:srgbClr val="333333"/>
                </a:solidFill>
                <a:latin typeface="Calibri" pitchFamily="34" charset="0"/>
                <a:ea typeface="Calibri" pitchFamily="34" charset="-122"/>
                <a:cs typeface="Calibri" pitchFamily="34" charset="-120"/>
              </a:rPr>
              <a:t>La réclamation : titre, statut, lieu...</a:t>
            </a:r>
            <a:endParaRPr lang="en-US" sz="1150" dirty="0"/>
          </a:p>
        </p:txBody>
      </p:sp>
      <p:sp>
        <p:nvSpPr>
          <p:cNvPr id="21" name="Shape 19"/>
          <p:cNvSpPr/>
          <p:nvPr/>
        </p:nvSpPr>
        <p:spPr>
          <a:xfrm>
            <a:off x="548640" y="3611880"/>
            <a:ext cx="2606040" cy="1417320"/>
          </a:xfrm>
          <a:prstGeom prst="roundRect">
            <a:avLst>
              <a:gd name="adj" fmla="val 3871"/>
            </a:avLst>
          </a:prstGeom>
          <a:solidFill>
            <a:srgbClr val="FBFAF8"/>
          </a:solidFill>
          <a:ln w="12700">
            <a:solidFill>
              <a:srgbClr val="E3DDD3"/>
            </a:solidFill>
            <a:prstDash val="solid"/>
          </a:ln>
        </p:spPr>
      </p:sp>
      <p:sp>
        <p:nvSpPr>
          <p:cNvPr id="22" name="Shape 20"/>
          <p:cNvSpPr/>
          <p:nvPr/>
        </p:nvSpPr>
        <p:spPr>
          <a:xfrm>
            <a:off x="548640" y="3611880"/>
            <a:ext cx="73152" cy="1417320"/>
          </a:xfrm>
          <a:prstGeom prst="rect">
            <a:avLst/>
          </a:prstGeom>
          <a:solidFill>
            <a:srgbClr val="6E2C2C"/>
          </a:solidFill>
          <a:ln/>
        </p:spPr>
      </p:sp>
      <p:sp>
        <p:nvSpPr>
          <p:cNvPr id="23" name="Text 21"/>
          <p:cNvSpPr/>
          <p:nvPr/>
        </p:nvSpPr>
        <p:spPr>
          <a:xfrm>
            <a:off x="777240" y="3749040"/>
            <a:ext cx="2240280" cy="365760"/>
          </a:xfrm>
          <a:prstGeom prst="rect">
            <a:avLst/>
          </a:prstGeom>
          <a:noFill/>
          <a:ln/>
        </p:spPr>
        <p:txBody>
          <a:bodyPr wrap="square" lIns="0" tIns="0" rIns="0" bIns="0" rtlCol="0" anchor="ctr"/>
          <a:lstStyle/>
          <a:p>
            <a:pPr marL="0" indent="0">
              <a:buNone/>
            </a:pPr>
            <a:r>
              <a:rPr lang="en-US" sz="1600" b="1" dirty="0">
                <a:solidFill>
                  <a:srgbClr val="6E2C2C"/>
                </a:solidFill>
                <a:latin typeface="Cambria" pitchFamily="34" charset="0"/>
                <a:ea typeface="Cambria" pitchFamily="34" charset="-122"/>
                <a:cs typeface="Cambria" pitchFamily="34" charset="-120"/>
              </a:rPr>
              <a:t>Comment</a:t>
            </a:r>
            <a:endParaRPr lang="en-US" sz="1600" dirty="0"/>
          </a:p>
        </p:txBody>
      </p:sp>
      <p:sp>
        <p:nvSpPr>
          <p:cNvPr id="24" name="Text 22"/>
          <p:cNvSpPr/>
          <p:nvPr/>
        </p:nvSpPr>
        <p:spPr>
          <a:xfrm>
            <a:off x="777240" y="4142232"/>
            <a:ext cx="2240280" cy="822960"/>
          </a:xfrm>
          <a:prstGeom prst="rect">
            <a:avLst/>
          </a:prstGeom>
          <a:noFill/>
          <a:ln/>
        </p:spPr>
        <p:txBody>
          <a:bodyPr wrap="square" lIns="0" tIns="0" rIns="0" bIns="0" rtlCol="0" anchor="ctr"/>
          <a:lstStyle/>
          <a:p>
            <a:pPr marL="0" indent="0">
              <a:lnSpc>
                <a:spcPct val="115000"/>
              </a:lnSpc>
              <a:buNone/>
            </a:pPr>
            <a:r>
              <a:rPr lang="en-US" sz="1150" dirty="0">
                <a:solidFill>
                  <a:srgbClr val="333333"/>
                </a:solidFill>
                <a:latin typeface="Calibri" pitchFamily="34" charset="0"/>
                <a:ea typeface="Calibri" pitchFamily="34" charset="-122"/>
                <a:cs typeface="Calibri" pitchFamily="34" charset="-120"/>
              </a:rPr>
              <a:t>Commentaires de suivi sur une réclamation</a:t>
            </a:r>
            <a:endParaRPr lang="en-US" sz="1150" dirty="0"/>
          </a:p>
        </p:txBody>
      </p:sp>
      <p:sp>
        <p:nvSpPr>
          <p:cNvPr id="25" name="Shape 23"/>
          <p:cNvSpPr/>
          <p:nvPr/>
        </p:nvSpPr>
        <p:spPr>
          <a:xfrm>
            <a:off x="3355848" y="3611880"/>
            <a:ext cx="2606040" cy="1417320"/>
          </a:xfrm>
          <a:prstGeom prst="roundRect">
            <a:avLst>
              <a:gd name="adj" fmla="val 3871"/>
            </a:avLst>
          </a:prstGeom>
          <a:solidFill>
            <a:srgbClr val="FBFAF8"/>
          </a:solidFill>
          <a:ln w="12700">
            <a:solidFill>
              <a:srgbClr val="E3DDD3"/>
            </a:solidFill>
            <a:prstDash val="solid"/>
          </a:ln>
        </p:spPr>
      </p:sp>
      <p:sp>
        <p:nvSpPr>
          <p:cNvPr id="26" name="Shape 24"/>
          <p:cNvSpPr/>
          <p:nvPr/>
        </p:nvSpPr>
        <p:spPr>
          <a:xfrm>
            <a:off x="3355848" y="3611880"/>
            <a:ext cx="73152" cy="1417320"/>
          </a:xfrm>
          <a:prstGeom prst="rect">
            <a:avLst/>
          </a:prstGeom>
          <a:solidFill>
            <a:srgbClr val="6E2C2C"/>
          </a:solidFill>
          <a:ln/>
        </p:spPr>
      </p:sp>
      <p:sp>
        <p:nvSpPr>
          <p:cNvPr id="27" name="Text 25"/>
          <p:cNvSpPr/>
          <p:nvPr/>
        </p:nvSpPr>
        <p:spPr>
          <a:xfrm>
            <a:off x="3584448" y="3749040"/>
            <a:ext cx="2240280" cy="365760"/>
          </a:xfrm>
          <a:prstGeom prst="rect">
            <a:avLst/>
          </a:prstGeom>
          <a:noFill/>
          <a:ln/>
        </p:spPr>
        <p:txBody>
          <a:bodyPr wrap="square" lIns="0" tIns="0" rIns="0" bIns="0" rtlCol="0" anchor="ctr"/>
          <a:lstStyle/>
          <a:p>
            <a:pPr marL="0" indent="0">
              <a:buNone/>
            </a:pPr>
            <a:r>
              <a:rPr lang="en-US" sz="1600" b="1" dirty="0">
                <a:solidFill>
                  <a:srgbClr val="6E2C2C"/>
                </a:solidFill>
                <a:latin typeface="Cambria" pitchFamily="34" charset="0"/>
                <a:ea typeface="Cambria" pitchFamily="34" charset="-122"/>
                <a:cs typeface="Cambria" pitchFamily="34" charset="-120"/>
              </a:rPr>
              <a:t>Attachment</a:t>
            </a:r>
            <a:endParaRPr lang="en-US" sz="1600" dirty="0"/>
          </a:p>
        </p:txBody>
      </p:sp>
      <p:sp>
        <p:nvSpPr>
          <p:cNvPr id="28" name="Text 26"/>
          <p:cNvSpPr/>
          <p:nvPr/>
        </p:nvSpPr>
        <p:spPr>
          <a:xfrm>
            <a:off x="3584448" y="4142232"/>
            <a:ext cx="2240280" cy="822960"/>
          </a:xfrm>
          <a:prstGeom prst="rect">
            <a:avLst/>
          </a:prstGeom>
          <a:noFill/>
          <a:ln/>
        </p:spPr>
        <p:txBody>
          <a:bodyPr wrap="square" lIns="0" tIns="0" rIns="0" bIns="0" rtlCol="0" anchor="ctr"/>
          <a:lstStyle/>
          <a:p>
            <a:pPr marL="0" indent="0">
              <a:lnSpc>
                <a:spcPct val="115000"/>
              </a:lnSpc>
              <a:buNone/>
            </a:pPr>
            <a:r>
              <a:rPr lang="en-US" sz="1150" dirty="0">
                <a:solidFill>
                  <a:srgbClr val="333333"/>
                </a:solidFill>
                <a:latin typeface="Calibri" pitchFamily="34" charset="0"/>
                <a:ea typeface="Calibri" pitchFamily="34" charset="-122"/>
                <a:cs typeface="Calibri" pitchFamily="34" charset="-120"/>
              </a:rPr>
              <a:t>Pièces jointes justificatives</a:t>
            </a:r>
            <a:endParaRPr lang="en-US" sz="1150" dirty="0"/>
          </a:p>
        </p:txBody>
      </p:sp>
      <p:sp>
        <p:nvSpPr>
          <p:cNvPr id="29" name="Shape 27"/>
          <p:cNvSpPr/>
          <p:nvPr/>
        </p:nvSpPr>
        <p:spPr>
          <a:xfrm>
            <a:off x="6163056" y="3611880"/>
            <a:ext cx="2606040" cy="1417320"/>
          </a:xfrm>
          <a:prstGeom prst="roundRect">
            <a:avLst>
              <a:gd name="adj" fmla="val 3871"/>
            </a:avLst>
          </a:prstGeom>
          <a:solidFill>
            <a:srgbClr val="FBFAF8"/>
          </a:solidFill>
          <a:ln w="12700">
            <a:solidFill>
              <a:srgbClr val="E3DDD3"/>
            </a:solidFill>
            <a:prstDash val="solid"/>
          </a:ln>
        </p:spPr>
      </p:sp>
      <p:sp>
        <p:nvSpPr>
          <p:cNvPr id="30" name="Shape 28"/>
          <p:cNvSpPr/>
          <p:nvPr/>
        </p:nvSpPr>
        <p:spPr>
          <a:xfrm>
            <a:off x="6163056" y="3611880"/>
            <a:ext cx="73152" cy="1417320"/>
          </a:xfrm>
          <a:prstGeom prst="rect">
            <a:avLst/>
          </a:prstGeom>
          <a:solidFill>
            <a:srgbClr val="6E2C2C"/>
          </a:solidFill>
          <a:ln/>
        </p:spPr>
      </p:sp>
      <p:sp>
        <p:nvSpPr>
          <p:cNvPr id="31" name="Text 29"/>
          <p:cNvSpPr/>
          <p:nvPr/>
        </p:nvSpPr>
        <p:spPr>
          <a:xfrm>
            <a:off x="6391656" y="3749040"/>
            <a:ext cx="2240280" cy="365760"/>
          </a:xfrm>
          <a:prstGeom prst="rect">
            <a:avLst/>
          </a:prstGeom>
          <a:noFill/>
          <a:ln/>
        </p:spPr>
        <p:txBody>
          <a:bodyPr wrap="square" lIns="0" tIns="0" rIns="0" bIns="0" rtlCol="0" anchor="ctr"/>
          <a:lstStyle/>
          <a:p>
            <a:pPr marL="0" indent="0">
              <a:buNone/>
            </a:pPr>
            <a:r>
              <a:rPr lang="en-US" sz="1600" b="1" dirty="0">
                <a:solidFill>
                  <a:srgbClr val="6E2C2C"/>
                </a:solidFill>
                <a:latin typeface="Cambria" pitchFamily="34" charset="0"/>
                <a:ea typeface="Cambria" pitchFamily="34" charset="-122"/>
                <a:cs typeface="Cambria" pitchFamily="34" charset="-120"/>
              </a:rPr>
              <a:t>Notification</a:t>
            </a:r>
            <a:endParaRPr lang="en-US" sz="1600" dirty="0"/>
          </a:p>
        </p:txBody>
      </p:sp>
      <p:sp>
        <p:nvSpPr>
          <p:cNvPr id="32" name="Text 30"/>
          <p:cNvSpPr/>
          <p:nvPr/>
        </p:nvSpPr>
        <p:spPr>
          <a:xfrm>
            <a:off x="6391656" y="4142232"/>
            <a:ext cx="2240280" cy="822960"/>
          </a:xfrm>
          <a:prstGeom prst="rect">
            <a:avLst/>
          </a:prstGeom>
          <a:noFill/>
          <a:ln/>
        </p:spPr>
        <p:txBody>
          <a:bodyPr wrap="square" lIns="0" tIns="0" rIns="0" bIns="0" rtlCol="0" anchor="ctr"/>
          <a:lstStyle/>
          <a:p>
            <a:pPr marL="0" indent="0">
              <a:lnSpc>
                <a:spcPct val="115000"/>
              </a:lnSpc>
              <a:buNone/>
            </a:pPr>
            <a:r>
              <a:rPr lang="en-US" sz="1150" dirty="0">
                <a:solidFill>
                  <a:srgbClr val="333333"/>
                </a:solidFill>
                <a:latin typeface="Calibri" pitchFamily="34" charset="0"/>
                <a:ea typeface="Calibri" pitchFamily="34" charset="-122"/>
                <a:cs typeface="Calibri" pitchFamily="34" charset="-120"/>
              </a:rPr>
              <a:t>Notifications envoyées aux citoyens</a:t>
            </a:r>
            <a:endParaRPr lang="en-US" sz="1150" dirty="0"/>
          </a:p>
        </p:txBody>
      </p:sp>
      <p:sp>
        <p:nvSpPr>
          <p:cNvPr id="33" name="Text 3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CitizenConnect</a:t>
            </a:r>
            <a:endParaRPr lang="en-US" sz="900" dirty="0"/>
          </a:p>
        </p:txBody>
      </p:sp>
      <p:sp>
        <p:nvSpPr>
          <p:cNvPr id="34" name="Text 32"/>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B8863F"/>
                </a:solidFill>
                <a:latin typeface="Calibri" pitchFamily="34" charset="0"/>
                <a:ea typeface="Calibri" pitchFamily="34" charset="-122"/>
                <a:cs typeface="Calibri" pitchFamily="34" charset="-120"/>
              </a:rPr>
              <a:t>CHAPITRE 2</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marL="0" indent="0">
              <a:buNone/>
            </a:pPr>
            <a:r>
              <a:rPr lang="en-US" sz="3000" b="1" dirty="0">
                <a:solidFill>
                  <a:srgbClr val="6E2C2C"/>
                </a:solidFill>
                <a:latin typeface="Cambria" pitchFamily="34" charset="0"/>
                <a:ea typeface="Cambria" pitchFamily="34" charset="-122"/>
                <a:cs typeface="Cambria" pitchFamily="34" charset="-120"/>
              </a:rPr>
              <a:t>Rôles et permissions</a:t>
            </a:r>
            <a:endParaRPr lang="en-US" sz="3000" dirty="0"/>
          </a:p>
        </p:txBody>
      </p:sp>
      <p:sp>
        <p:nvSpPr>
          <p:cNvPr id="4" name="Shape 2"/>
          <p:cNvSpPr/>
          <p:nvPr/>
        </p:nvSpPr>
        <p:spPr>
          <a:xfrm>
            <a:off x="548640" y="1691640"/>
            <a:ext cx="3611880" cy="4434840"/>
          </a:xfrm>
          <a:prstGeom prst="roundRect">
            <a:avLst>
              <a:gd name="adj" fmla="val 2025"/>
            </a:avLst>
          </a:prstGeom>
          <a:solidFill>
            <a:srgbClr val="FBFAF8"/>
          </a:solidFill>
          <a:ln w="12700">
            <a:solidFill>
              <a:srgbClr val="E3DDD3"/>
            </a:solidFill>
            <a:prstDash val="solid"/>
          </a:ln>
        </p:spPr>
      </p:sp>
      <p:sp>
        <p:nvSpPr>
          <p:cNvPr id="5" name="Text 3"/>
          <p:cNvSpPr/>
          <p:nvPr/>
        </p:nvSpPr>
        <p:spPr>
          <a:xfrm>
            <a:off x="822960" y="1920240"/>
            <a:ext cx="3063240" cy="502920"/>
          </a:xfrm>
          <a:prstGeom prst="rect">
            <a:avLst/>
          </a:prstGeom>
          <a:noFill/>
          <a:ln/>
        </p:spPr>
        <p:txBody>
          <a:bodyPr wrap="square" lIns="0" tIns="0" rIns="0" bIns="0" rtlCol="0" anchor="ctr"/>
          <a:lstStyle/>
          <a:p>
            <a:pPr marL="0" indent="0">
              <a:buNone/>
            </a:pPr>
            <a:r>
              <a:rPr lang="en-US" sz="1900" b="1" dirty="0">
                <a:solidFill>
                  <a:srgbClr val="6E2C2C"/>
                </a:solidFill>
                <a:latin typeface="Cambria" pitchFamily="34" charset="0"/>
                <a:ea typeface="Cambria" pitchFamily="34" charset="-122"/>
                <a:cs typeface="Cambria" pitchFamily="34" charset="-120"/>
              </a:rPr>
              <a:t>Citoyen</a:t>
            </a:r>
            <a:endParaRPr lang="en-US" sz="1900" dirty="0"/>
          </a:p>
        </p:txBody>
      </p:sp>
      <p:sp>
        <p:nvSpPr>
          <p:cNvPr id="6" name="Shape 4"/>
          <p:cNvSpPr/>
          <p:nvPr/>
        </p:nvSpPr>
        <p:spPr>
          <a:xfrm>
            <a:off x="822960" y="2660904"/>
            <a:ext cx="82296" cy="82296"/>
          </a:xfrm>
          <a:prstGeom prst="ellipse">
            <a:avLst/>
          </a:prstGeom>
          <a:solidFill>
            <a:srgbClr val="6E2C2C"/>
          </a:solidFill>
          <a:ln/>
        </p:spPr>
      </p:sp>
      <p:sp>
        <p:nvSpPr>
          <p:cNvPr id="7" name="Text 5"/>
          <p:cNvSpPr/>
          <p:nvPr/>
        </p:nvSpPr>
        <p:spPr>
          <a:xfrm>
            <a:off x="1024128" y="2532888"/>
            <a:ext cx="2862072" cy="594360"/>
          </a:xfrm>
          <a:prstGeom prst="rect">
            <a:avLst/>
          </a:prstGeom>
          <a:noFill/>
          <a:ln/>
        </p:spPr>
        <p:txBody>
          <a:bodyPr wrap="square" lIns="0" tIns="0" rIns="0" bIns="0" rtlCol="0" anchor="t"/>
          <a:lstStyle/>
          <a:p>
            <a:pPr marL="0" indent="0">
              <a:lnSpc>
                <a:spcPct val="110000"/>
              </a:lnSpc>
              <a:buNone/>
            </a:pPr>
            <a:r>
              <a:rPr lang="en-US" sz="1250" dirty="0">
                <a:solidFill>
                  <a:srgbClr val="333333"/>
                </a:solidFill>
                <a:latin typeface="Calibri" pitchFamily="34" charset="0"/>
                <a:ea typeface="Calibri" pitchFamily="34" charset="-122"/>
                <a:cs typeface="Calibri" pitchFamily="34" charset="-120"/>
              </a:rPr>
              <a:t>S'inscrire et se connecter</a:t>
            </a:r>
            <a:endParaRPr lang="en-US" sz="1250" dirty="0"/>
          </a:p>
        </p:txBody>
      </p:sp>
      <p:sp>
        <p:nvSpPr>
          <p:cNvPr id="8" name="Shape 6"/>
          <p:cNvSpPr/>
          <p:nvPr/>
        </p:nvSpPr>
        <p:spPr>
          <a:xfrm>
            <a:off x="822960" y="3319272"/>
            <a:ext cx="82296" cy="82296"/>
          </a:xfrm>
          <a:prstGeom prst="ellipse">
            <a:avLst/>
          </a:prstGeom>
          <a:solidFill>
            <a:srgbClr val="6E2C2C"/>
          </a:solidFill>
          <a:ln/>
        </p:spPr>
      </p:sp>
      <p:sp>
        <p:nvSpPr>
          <p:cNvPr id="9" name="Text 7"/>
          <p:cNvSpPr/>
          <p:nvPr/>
        </p:nvSpPr>
        <p:spPr>
          <a:xfrm>
            <a:off x="1024128" y="3191256"/>
            <a:ext cx="2862072" cy="594360"/>
          </a:xfrm>
          <a:prstGeom prst="rect">
            <a:avLst/>
          </a:prstGeom>
          <a:noFill/>
          <a:ln/>
        </p:spPr>
        <p:txBody>
          <a:bodyPr wrap="square" lIns="0" tIns="0" rIns="0" bIns="0" rtlCol="0" anchor="t"/>
          <a:lstStyle/>
          <a:p>
            <a:pPr marL="0" indent="0">
              <a:lnSpc>
                <a:spcPct val="110000"/>
              </a:lnSpc>
              <a:buNone/>
            </a:pPr>
            <a:r>
              <a:rPr lang="en-US" sz="1250" dirty="0">
                <a:solidFill>
                  <a:srgbClr val="333333"/>
                </a:solidFill>
                <a:latin typeface="Calibri" pitchFamily="34" charset="0"/>
                <a:ea typeface="Calibri" pitchFamily="34" charset="-122"/>
                <a:cs typeface="Calibri" pitchFamily="34" charset="-120"/>
              </a:rPr>
              <a:t>Déposer une réclamation avec pièces jointes</a:t>
            </a:r>
            <a:endParaRPr lang="en-US" sz="1250" dirty="0"/>
          </a:p>
        </p:txBody>
      </p:sp>
      <p:sp>
        <p:nvSpPr>
          <p:cNvPr id="10" name="Shape 8"/>
          <p:cNvSpPr/>
          <p:nvPr/>
        </p:nvSpPr>
        <p:spPr>
          <a:xfrm>
            <a:off x="822960" y="3977640"/>
            <a:ext cx="82296" cy="82296"/>
          </a:xfrm>
          <a:prstGeom prst="ellipse">
            <a:avLst/>
          </a:prstGeom>
          <a:solidFill>
            <a:srgbClr val="6E2C2C"/>
          </a:solidFill>
          <a:ln/>
        </p:spPr>
      </p:sp>
      <p:sp>
        <p:nvSpPr>
          <p:cNvPr id="11" name="Text 9"/>
          <p:cNvSpPr/>
          <p:nvPr/>
        </p:nvSpPr>
        <p:spPr>
          <a:xfrm>
            <a:off x="1024128" y="3849624"/>
            <a:ext cx="2862072" cy="594360"/>
          </a:xfrm>
          <a:prstGeom prst="rect">
            <a:avLst/>
          </a:prstGeom>
          <a:noFill/>
          <a:ln/>
        </p:spPr>
        <p:txBody>
          <a:bodyPr wrap="square" lIns="0" tIns="0" rIns="0" bIns="0" rtlCol="0" anchor="t"/>
          <a:lstStyle/>
          <a:p>
            <a:pPr marL="0" indent="0">
              <a:lnSpc>
                <a:spcPct val="110000"/>
              </a:lnSpc>
              <a:buNone/>
            </a:pPr>
            <a:r>
              <a:rPr lang="en-US" sz="1250" dirty="0">
                <a:solidFill>
                  <a:srgbClr val="333333"/>
                </a:solidFill>
                <a:latin typeface="Calibri" pitchFamily="34" charset="0"/>
                <a:ea typeface="Calibri" pitchFamily="34" charset="-122"/>
                <a:cs typeface="Calibri" pitchFamily="34" charset="-120"/>
              </a:rPr>
              <a:t>Suivre le statut en temps réel</a:t>
            </a:r>
            <a:endParaRPr lang="en-US" sz="1250" dirty="0"/>
          </a:p>
        </p:txBody>
      </p:sp>
      <p:sp>
        <p:nvSpPr>
          <p:cNvPr id="12" name="Shape 10"/>
          <p:cNvSpPr/>
          <p:nvPr/>
        </p:nvSpPr>
        <p:spPr>
          <a:xfrm>
            <a:off x="822960" y="4636008"/>
            <a:ext cx="82296" cy="82296"/>
          </a:xfrm>
          <a:prstGeom prst="ellipse">
            <a:avLst/>
          </a:prstGeom>
          <a:solidFill>
            <a:srgbClr val="6E2C2C"/>
          </a:solidFill>
          <a:ln/>
        </p:spPr>
      </p:sp>
      <p:sp>
        <p:nvSpPr>
          <p:cNvPr id="13" name="Text 11"/>
          <p:cNvSpPr/>
          <p:nvPr/>
        </p:nvSpPr>
        <p:spPr>
          <a:xfrm>
            <a:off x="1024128" y="4507992"/>
            <a:ext cx="2862072" cy="594360"/>
          </a:xfrm>
          <a:prstGeom prst="rect">
            <a:avLst/>
          </a:prstGeom>
          <a:noFill/>
          <a:ln/>
        </p:spPr>
        <p:txBody>
          <a:bodyPr wrap="square" lIns="0" tIns="0" rIns="0" bIns="0" rtlCol="0" anchor="t"/>
          <a:lstStyle/>
          <a:p>
            <a:pPr marL="0" indent="0">
              <a:lnSpc>
                <a:spcPct val="110000"/>
              </a:lnSpc>
              <a:buNone/>
            </a:pPr>
            <a:r>
              <a:rPr lang="en-US" sz="1250" dirty="0">
                <a:solidFill>
                  <a:srgbClr val="333333"/>
                </a:solidFill>
                <a:latin typeface="Calibri" pitchFamily="34" charset="0"/>
                <a:ea typeface="Calibri" pitchFamily="34" charset="-122"/>
                <a:cs typeface="Calibri" pitchFamily="34" charset="-120"/>
              </a:rPr>
              <a:t>Commenter ses propres réclamations</a:t>
            </a:r>
            <a:endParaRPr lang="en-US" sz="1250" dirty="0"/>
          </a:p>
        </p:txBody>
      </p:sp>
      <p:sp>
        <p:nvSpPr>
          <p:cNvPr id="14" name="Shape 12"/>
          <p:cNvSpPr/>
          <p:nvPr/>
        </p:nvSpPr>
        <p:spPr>
          <a:xfrm>
            <a:off x="822960" y="5294376"/>
            <a:ext cx="82296" cy="82296"/>
          </a:xfrm>
          <a:prstGeom prst="ellipse">
            <a:avLst/>
          </a:prstGeom>
          <a:solidFill>
            <a:srgbClr val="6E2C2C"/>
          </a:solidFill>
          <a:ln/>
        </p:spPr>
      </p:sp>
      <p:sp>
        <p:nvSpPr>
          <p:cNvPr id="15" name="Text 13"/>
          <p:cNvSpPr/>
          <p:nvPr/>
        </p:nvSpPr>
        <p:spPr>
          <a:xfrm>
            <a:off x="1024128" y="5166360"/>
            <a:ext cx="2862072" cy="594360"/>
          </a:xfrm>
          <a:prstGeom prst="rect">
            <a:avLst/>
          </a:prstGeom>
          <a:noFill/>
          <a:ln/>
        </p:spPr>
        <p:txBody>
          <a:bodyPr wrap="square" lIns="0" tIns="0" rIns="0" bIns="0" rtlCol="0" anchor="t"/>
          <a:lstStyle/>
          <a:p>
            <a:pPr marL="0" indent="0">
              <a:lnSpc>
                <a:spcPct val="110000"/>
              </a:lnSpc>
              <a:buNone/>
            </a:pPr>
            <a:r>
              <a:rPr lang="en-US" sz="1250" dirty="0">
                <a:solidFill>
                  <a:srgbClr val="333333"/>
                </a:solidFill>
                <a:latin typeface="Calibri" pitchFamily="34" charset="0"/>
                <a:ea typeface="Calibri" pitchFamily="34" charset="-122"/>
                <a:cs typeface="Calibri" pitchFamily="34" charset="-120"/>
              </a:rPr>
              <a:t>Recevoir des notifications</a:t>
            </a:r>
            <a:endParaRPr lang="en-US" sz="1250" dirty="0"/>
          </a:p>
        </p:txBody>
      </p:sp>
      <p:sp>
        <p:nvSpPr>
          <p:cNvPr id="16" name="Shape 14"/>
          <p:cNvSpPr/>
          <p:nvPr/>
        </p:nvSpPr>
        <p:spPr>
          <a:xfrm>
            <a:off x="4361688" y="1691640"/>
            <a:ext cx="3611880" cy="4434840"/>
          </a:xfrm>
          <a:prstGeom prst="roundRect">
            <a:avLst>
              <a:gd name="adj" fmla="val 2025"/>
            </a:avLst>
          </a:prstGeom>
          <a:solidFill>
            <a:srgbClr val="3D1717"/>
          </a:solidFill>
          <a:ln w="12700">
            <a:solidFill>
              <a:srgbClr val="3D1717"/>
            </a:solidFill>
            <a:prstDash val="solid"/>
          </a:ln>
        </p:spPr>
      </p:sp>
      <p:sp>
        <p:nvSpPr>
          <p:cNvPr id="17" name="Text 15"/>
          <p:cNvSpPr/>
          <p:nvPr/>
        </p:nvSpPr>
        <p:spPr>
          <a:xfrm>
            <a:off x="4636008" y="1920240"/>
            <a:ext cx="3063240" cy="50292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Agent</a:t>
            </a:r>
            <a:endParaRPr lang="en-US" sz="1900" dirty="0"/>
          </a:p>
        </p:txBody>
      </p:sp>
      <p:sp>
        <p:nvSpPr>
          <p:cNvPr id="18" name="Shape 16"/>
          <p:cNvSpPr/>
          <p:nvPr/>
        </p:nvSpPr>
        <p:spPr>
          <a:xfrm>
            <a:off x="4636008" y="2660904"/>
            <a:ext cx="82296" cy="82296"/>
          </a:xfrm>
          <a:prstGeom prst="ellipse">
            <a:avLst/>
          </a:prstGeom>
          <a:solidFill>
            <a:srgbClr val="B8863F"/>
          </a:solidFill>
          <a:ln/>
        </p:spPr>
      </p:sp>
      <p:sp>
        <p:nvSpPr>
          <p:cNvPr id="19" name="Text 17"/>
          <p:cNvSpPr/>
          <p:nvPr/>
        </p:nvSpPr>
        <p:spPr>
          <a:xfrm>
            <a:off x="4837176" y="2532888"/>
            <a:ext cx="2862072" cy="594360"/>
          </a:xfrm>
          <a:prstGeom prst="rect">
            <a:avLst/>
          </a:prstGeom>
          <a:noFill/>
          <a:ln/>
        </p:spPr>
        <p:txBody>
          <a:bodyPr wrap="square" lIns="0" tIns="0" rIns="0" bIns="0" rtlCol="0" anchor="t"/>
          <a:lstStyle/>
          <a:p>
            <a:pPr marL="0" indent="0">
              <a:lnSpc>
                <a:spcPct val="110000"/>
              </a:lnSpc>
              <a:buNone/>
            </a:pPr>
            <a:r>
              <a:rPr lang="en-US" sz="1250" dirty="0">
                <a:solidFill>
                  <a:srgbClr val="EFE6DD"/>
                </a:solidFill>
                <a:latin typeface="Calibri" pitchFamily="34" charset="0"/>
                <a:ea typeface="Calibri" pitchFamily="34" charset="-122"/>
                <a:cs typeface="Calibri" pitchFamily="34" charset="-120"/>
              </a:rPr>
              <a:t>Consulter les réclamations assignées</a:t>
            </a:r>
            <a:endParaRPr lang="en-US" sz="1250" dirty="0"/>
          </a:p>
        </p:txBody>
      </p:sp>
      <p:sp>
        <p:nvSpPr>
          <p:cNvPr id="20" name="Shape 18"/>
          <p:cNvSpPr/>
          <p:nvPr/>
        </p:nvSpPr>
        <p:spPr>
          <a:xfrm>
            <a:off x="4636008" y="3319272"/>
            <a:ext cx="82296" cy="82296"/>
          </a:xfrm>
          <a:prstGeom prst="ellipse">
            <a:avLst/>
          </a:prstGeom>
          <a:solidFill>
            <a:srgbClr val="B8863F"/>
          </a:solidFill>
          <a:ln/>
        </p:spPr>
      </p:sp>
      <p:sp>
        <p:nvSpPr>
          <p:cNvPr id="21" name="Text 19"/>
          <p:cNvSpPr/>
          <p:nvPr/>
        </p:nvSpPr>
        <p:spPr>
          <a:xfrm>
            <a:off x="4837176" y="3191256"/>
            <a:ext cx="2862072" cy="594360"/>
          </a:xfrm>
          <a:prstGeom prst="rect">
            <a:avLst/>
          </a:prstGeom>
          <a:noFill/>
          <a:ln/>
        </p:spPr>
        <p:txBody>
          <a:bodyPr wrap="square" lIns="0" tIns="0" rIns="0" bIns="0" rtlCol="0" anchor="t"/>
          <a:lstStyle/>
          <a:p>
            <a:pPr marL="0" indent="0">
              <a:lnSpc>
                <a:spcPct val="110000"/>
              </a:lnSpc>
              <a:buNone/>
            </a:pPr>
            <a:r>
              <a:rPr lang="en-US" sz="1250" dirty="0">
                <a:solidFill>
                  <a:srgbClr val="EFE6DD"/>
                </a:solidFill>
                <a:latin typeface="Calibri" pitchFamily="34" charset="0"/>
                <a:ea typeface="Calibri" pitchFamily="34" charset="-122"/>
                <a:cs typeface="Calibri" pitchFamily="34" charset="-120"/>
              </a:rPr>
              <a:t>Mettre à jour le statut</a:t>
            </a:r>
            <a:endParaRPr lang="en-US" sz="1250" dirty="0"/>
          </a:p>
        </p:txBody>
      </p:sp>
      <p:sp>
        <p:nvSpPr>
          <p:cNvPr id="22" name="Shape 20"/>
          <p:cNvSpPr/>
          <p:nvPr/>
        </p:nvSpPr>
        <p:spPr>
          <a:xfrm>
            <a:off x="4636008" y="3977640"/>
            <a:ext cx="82296" cy="82296"/>
          </a:xfrm>
          <a:prstGeom prst="ellipse">
            <a:avLst/>
          </a:prstGeom>
          <a:solidFill>
            <a:srgbClr val="B8863F"/>
          </a:solidFill>
          <a:ln/>
        </p:spPr>
      </p:sp>
      <p:sp>
        <p:nvSpPr>
          <p:cNvPr id="23" name="Text 21"/>
          <p:cNvSpPr/>
          <p:nvPr/>
        </p:nvSpPr>
        <p:spPr>
          <a:xfrm>
            <a:off x="4837176" y="3849624"/>
            <a:ext cx="2862072" cy="594360"/>
          </a:xfrm>
          <a:prstGeom prst="rect">
            <a:avLst/>
          </a:prstGeom>
          <a:noFill/>
          <a:ln/>
        </p:spPr>
        <p:txBody>
          <a:bodyPr wrap="square" lIns="0" tIns="0" rIns="0" bIns="0" rtlCol="0" anchor="t"/>
          <a:lstStyle/>
          <a:p>
            <a:pPr marL="0" indent="0">
              <a:lnSpc>
                <a:spcPct val="110000"/>
              </a:lnSpc>
              <a:buNone/>
            </a:pPr>
            <a:r>
              <a:rPr lang="en-US" sz="1250" dirty="0">
                <a:solidFill>
                  <a:srgbClr val="EFE6DD"/>
                </a:solidFill>
                <a:latin typeface="Calibri" pitchFamily="34" charset="0"/>
                <a:ea typeface="Calibri" pitchFamily="34" charset="-122"/>
                <a:cs typeface="Calibri" pitchFamily="34" charset="-120"/>
              </a:rPr>
              <a:t>Ajouter des commentaires de suivi</a:t>
            </a:r>
            <a:endParaRPr lang="en-US" sz="1250" dirty="0"/>
          </a:p>
        </p:txBody>
      </p:sp>
      <p:sp>
        <p:nvSpPr>
          <p:cNvPr id="24" name="Shape 22"/>
          <p:cNvSpPr/>
          <p:nvPr/>
        </p:nvSpPr>
        <p:spPr>
          <a:xfrm>
            <a:off x="4636008" y="4636008"/>
            <a:ext cx="82296" cy="82296"/>
          </a:xfrm>
          <a:prstGeom prst="ellipse">
            <a:avLst/>
          </a:prstGeom>
          <a:solidFill>
            <a:srgbClr val="B8863F"/>
          </a:solidFill>
          <a:ln/>
        </p:spPr>
      </p:sp>
      <p:sp>
        <p:nvSpPr>
          <p:cNvPr id="25" name="Text 23"/>
          <p:cNvSpPr/>
          <p:nvPr/>
        </p:nvSpPr>
        <p:spPr>
          <a:xfrm>
            <a:off x="4837176" y="4507992"/>
            <a:ext cx="2862072" cy="594360"/>
          </a:xfrm>
          <a:prstGeom prst="rect">
            <a:avLst/>
          </a:prstGeom>
          <a:noFill/>
          <a:ln/>
        </p:spPr>
        <p:txBody>
          <a:bodyPr wrap="square" lIns="0" tIns="0" rIns="0" bIns="0" rtlCol="0" anchor="t"/>
          <a:lstStyle/>
          <a:p>
            <a:pPr marL="0" indent="0">
              <a:lnSpc>
                <a:spcPct val="110000"/>
              </a:lnSpc>
              <a:buNone/>
            </a:pPr>
            <a:r>
              <a:rPr lang="en-US" sz="1250" dirty="0">
                <a:solidFill>
                  <a:srgbClr val="EFE6DD"/>
                </a:solidFill>
                <a:latin typeface="Calibri" pitchFamily="34" charset="0"/>
                <a:ea typeface="Calibri" pitchFamily="34" charset="-122"/>
                <a:cs typeface="Calibri" pitchFamily="34" charset="-120"/>
              </a:rPr>
              <a:t>Consulter les pièces jointes</a:t>
            </a:r>
            <a:endParaRPr lang="en-US" sz="1250" dirty="0"/>
          </a:p>
        </p:txBody>
      </p:sp>
      <p:sp>
        <p:nvSpPr>
          <p:cNvPr id="26" name="Shape 24"/>
          <p:cNvSpPr/>
          <p:nvPr/>
        </p:nvSpPr>
        <p:spPr>
          <a:xfrm>
            <a:off x="4636008" y="5294376"/>
            <a:ext cx="82296" cy="82296"/>
          </a:xfrm>
          <a:prstGeom prst="ellipse">
            <a:avLst/>
          </a:prstGeom>
          <a:solidFill>
            <a:srgbClr val="B8863F"/>
          </a:solidFill>
          <a:ln/>
        </p:spPr>
      </p:sp>
      <p:sp>
        <p:nvSpPr>
          <p:cNvPr id="27" name="Text 25"/>
          <p:cNvSpPr/>
          <p:nvPr/>
        </p:nvSpPr>
        <p:spPr>
          <a:xfrm>
            <a:off x="4837176" y="5166360"/>
            <a:ext cx="2862072" cy="594360"/>
          </a:xfrm>
          <a:prstGeom prst="rect">
            <a:avLst/>
          </a:prstGeom>
          <a:noFill/>
          <a:ln/>
        </p:spPr>
        <p:txBody>
          <a:bodyPr wrap="square" lIns="0" tIns="0" rIns="0" bIns="0" rtlCol="0" anchor="t"/>
          <a:lstStyle/>
          <a:p>
            <a:pPr marL="0" indent="0">
              <a:lnSpc>
                <a:spcPct val="110000"/>
              </a:lnSpc>
              <a:buNone/>
            </a:pPr>
            <a:r>
              <a:rPr lang="en-US" sz="1250" dirty="0">
                <a:solidFill>
                  <a:srgbClr val="EFE6DD"/>
                </a:solidFill>
                <a:latin typeface="Calibri" pitchFamily="34" charset="0"/>
                <a:ea typeface="Calibri" pitchFamily="34" charset="-122"/>
                <a:cs typeface="Calibri" pitchFamily="34" charset="-120"/>
              </a:rPr>
              <a:t>Aucun accès à la gestion globale</a:t>
            </a:r>
            <a:endParaRPr lang="en-US" sz="1250" dirty="0"/>
          </a:p>
        </p:txBody>
      </p:sp>
      <p:sp>
        <p:nvSpPr>
          <p:cNvPr id="28" name="Shape 26"/>
          <p:cNvSpPr/>
          <p:nvPr/>
        </p:nvSpPr>
        <p:spPr>
          <a:xfrm>
            <a:off x="8174736" y="1691640"/>
            <a:ext cx="3611880" cy="4434840"/>
          </a:xfrm>
          <a:prstGeom prst="roundRect">
            <a:avLst>
              <a:gd name="adj" fmla="val 2025"/>
            </a:avLst>
          </a:prstGeom>
          <a:solidFill>
            <a:srgbClr val="FBFAF8"/>
          </a:solidFill>
          <a:ln w="12700">
            <a:solidFill>
              <a:srgbClr val="E3DDD3"/>
            </a:solidFill>
            <a:prstDash val="solid"/>
          </a:ln>
        </p:spPr>
      </p:sp>
      <p:sp>
        <p:nvSpPr>
          <p:cNvPr id="29" name="Text 27"/>
          <p:cNvSpPr/>
          <p:nvPr/>
        </p:nvSpPr>
        <p:spPr>
          <a:xfrm>
            <a:off x="8449056" y="1920240"/>
            <a:ext cx="3063240" cy="502920"/>
          </a:xfrm>
          <a:prstGeom prst="rect">
            <a:avLst/>
          </a:prstGeom>
          <a:noFill/>
          <a:ln/>
        </p:spPr>
        <p:txBody>
          <a:bodyPr wrap="square" lIns="0" tIns="0" rIns="0" bIns="0" rtlCol="0" anchor="ctr"/>
          <a:lstStyle/>
          <a:p>
            <a:pPr marL="0" indent="0">
              <a:buNone/>
            </a:pPr>
            <a:r>
              <a:rPr lang="en-US" sz="1900" b="1" dirty="0">
                <a:solidFill>
                  <a:srgbClr val="6E2C2C"/>
                </a:solidFill>
                <a:latin typeface="Cambria" pitchFamily="34" charset="0"/>
                <a:ea typeface="Cambria" pitchFamily="34" charset="-122"/>
                <a:cs typeface="Cambria" pitchFamily="34" charset="-120"/>
              </a:rPr>
              <a:t>Administrateur</a:t>
            </a:r>
            <a:endParaRPr lang="en-US" sz="1900" dirty="0"/>
          </a:p>
        </p:txBody>
      </p:sp>
      <p:sp>
        <p:nvSpPr>
          <p:cNvPr id="30" name="Shape 28"/>
          <p:cNvSpPr/>
          <p:nvPr/>
        </p:nvSpPr>
        <p:spPr>
          <a:xfrm>
            <a:off x="8449056" y="2660904"/>
            <a:ext cx="82296" cy="82296"/>
          </a:xfrm>
          <a:prstGeom prst="ellipse">
            <a:avLst/>
          </a:prstGeom>
          <a:solidFill>
            <a:srgbClr val="6E2C2C"/>
          </a:solidFill>
          <a:ln/>
        </p:spPr>
      </p:sp>
      <p:sp>
        <p:nvSpPr>
          <p:cNvPr id="31" name="Text 29"/>
          <p:cNvSpPr/>
          <p:nvPr/>
        </p:nvSpPr>
        <p:spPr>
          <a:xfrm>
            <a:off x="8650224" y="2532888"/>
            <a:ext cx="2862072" cy="594360"/>
          </a:xfrm>
          <a:prstGeom prst="rect">
            <a:avLst/>
          </a:prstGeom>
          <a:noFill/>
          <a:ln/>
        </p:spPr>
        <p:txBody>
          <a:bodyPr wrap="square" lIns="0" tIns="0" rIns="0" bIns="0" rtlCol="0" anchor="t"/>
          <a:lstStyle/>
          <a:p>
            <a:pPr marL="0" indent="0">
              <a:lnSpc>
                <a:spcPct val="110000"/>
              </a:lnSpc>
              <a:buNone/>
            </a:pPr>
            <a:r>
              <a:rPr lang="en-US" sz="1250" dirty="0">
                <a:solidFill>
                  <a:srgbClr val="333333"/>
                </a:solidFill>
                <a:latin typeface="Calibri" pitchFamily="34" charset="0"/>
                <a:ea typeface="Calibri" pitchFamily="34" charset="-122"/>
                <a:cs typeface="Calibri" pitchFamily="34" charset="-120"/>
              </a:rPr>
              <a:t>CRUD complet : utilisateurs, rôles, catégories</a:t>
            </a:r>
            <a:endParaRPr lang="en-US" sz="1250" dirty="0"/>
          </a:p>
        </p:txBody>
      </p:sp>
      <p:sp>
        <p:nvSpPr>
          <p:cNvPr id="32" name="Shape 30"/>
          <p:cNvSpPr/>
          <p:nvPr/>
        </p:nvSpPr>
        <p:spPr>
          <a:xfrm>
            <a:off x="8449056" y="3319272"/>
            <a:ext cx="82296" cy="82296"/>
          </a:xfrm>
          <a:prstGeom prst="ellipse">
            <a:avLst/>
          </a:prstGeom>
          <a:solidFill>
            <a:srgbClr val="6E2C2C"/>
          </a:solidFill>
          <a:ln/>
        </p:spPr>
      </p:sp>
      <p:sp>
        <p:nvSpPr>
          <p:cNvPr id="33" name="Text 31"/>
          <p:cNvSpPr/>
          <p:nvPr/>
        </p:nvSpPr>
        <p:spPr>
          <a:xfrm>
            <a:off x="8650224" y="3191256"/>
            <a:ext cx="2862072" cy="594360"/>
          </a:xfrm>
          <a:prstGeom prst="rect">
            <a:avLst/>
          </a:prstGeom>
          <a:noFill/>
          <a:ln/>
        </p:spPr>
        <p:txBody>
          <a:bodyPr wrap="square" lIns="0" tIns="0" rIns="0" bIns="0" rtlCol="0" anchor="t"/>
          <a:lstStyle/>
          <a:p>
            <a:pPr marL="0" indent="0">
              <a:lnSpc>
                <a:spcPct val="110000"/>
              </a:lnSpc>
              <a:buNone/>
            </a:pPr>
            <a:r>
              <a:rPr lang="en-US" sz="1250" dirty="0">
                <a:solidFill>
                  <a:srgbClr val="333333"/>
                </a:solidFill>
                <a:latin typeface="Calibri" pitchFamily="34" charset="0"/>
                <a:ea typeface="Calibri" pitchFamily="34" charset="-122"/>
                <a:cs typeface="Calibri" pitchFamily="34" charset="-120"/>
              </a:rPr>
              <a:t>Gestion de toutes les réclamations</a:t>
            </a:r>
            <a:endParaRPr lang="en-US" sz="1250" dirty="0"/>
          </a:p>
        </p:txBody>
      </p:sp>
      <p:sp>
        <p:nvSpPr>
          <p:cNvPr id="34" name="Shape 32"/>
          <p:cNvSpPr/>
          <p:nvPr/>
        </p:nvSpPr>
        <p:spPr>
          <a:xfrm>
            <a:off x="8449056" y="3977640"/>
            <a:ext cx="82296" cy="82296"/>
          </a:xfrm>
          <a:prstGeom prst="ellipse">
            <a:avLst/>
          </a:prstGeom>
          <a:solidFill>
            <a:srgbClr val="6E2C2C"/>
          </a:solidFill>
          <a:ln/>
        </p:spPr>
      </p:sp>
      <p:sp>
        <p:nvSpPr>
          <p:cNvPr id="35" name="Text 33"/>
          <p:cNvSpPr/>
          <p:nvPr/>
        </p:nvSpPr>
        <p:spPr>
          <a:xfrm>
            <a:off x="8650224" y="3849624"/>
            <a:ext cx="2862072" cy="594360"/>
          </a:xfrm>
          <a:prstGeom prst="rect">
            <a:avLst/>
          </a:prstGeom>
          <a:noFill/>
          <a:ln/>
        </p:spPr>
        <p:txBody>
          <a:bodyPr wrap="square" lIns="0" tIns="0" rIns="0" bIns="0" rtlCol="0" anchor="t"/>
          <a:lstStyle/>
          <a:p>
            <a:pPr marL="0" indent="0">
              <a:lnSpc>
                <a:spcPct val="110000"/>
              </a:lnSpc>
              <a:buNone/>
            </a:pPr>
            <a:r>
              <a:rPr lang="en-US" sz="1250" dirty="0">
                <a:solidFill>
                  <a:srgbClr val="333333"/>
                </a:solidFill>
                <a:latin typeface="Calibri" pitchFamily="34" charset="0"/>
                <a:ea typeface="Calibri" pitchFamily="34" charset="-122"/>
                <a:cs typeface="Calibri" pitchFamily="34" charset="-120"/>
              </a:rPr>
              <a:t>Réassignation aux agents</a:t>
            </a:r>
            <a:endParaRPr lang="en-US" sz="1250" dirty="0"/>
          </a:p>
        </p:txBody>
      </p:sp>
      <p:sp>
        <p:nvSpPr>
          <p:cNvPr id="36" name="Shape 34"/>
          <p:cNvSpPr/>
          <p:nvPr/>
        </p:nvSpPr>
        <p:spPr>
          <a:xfrm>
            <a:off x="8449056" y="4636008"/>
            <a:ext cx="82296" cy="82296"/>
          </a:xfrm>
          <a:prstGeom prst="ellipse">
            <a:avLst/>
          </a:prstGeom>
          <a:solidFill>
            <a:srgbClr val="6E2C2C"/>
          </a:solidFill>
          <a:ln/>
        </p:spPr>
      </p:sp>
      <p:sp>
        <p:nvSpPr>
          <p:cNvPr id="37" name="Text 35"/>
          <p:cNvSpPr/>
          <p:nvPr/>
        </p:nvSpPr>
        <p:spPr>
          <a:xfrm>
            <a:off x="8650224" y="4507992"/>
            <a:ext cx="2862072" cy="594360"/>
          </a:xfrm>
          <a:prstGeom prst="rect">
            <a:avLst/>
          </a:prstGeom>
          <a:noFill/>
          <a:ln/>
        </p:spPr>
        <p:txBody>
          <a:bodyPr wrap="square" lIns="0" tIns="0" rIns="0" bIns="0" rtlCol="0" anchor="t"/>
          <a:lstStyle/>
          <a:p>
            <a:pPr marL="0" indent="0">
              <a:lnSpc>
                <a:spcPct val="110000"/>
              </a:lnSpc>
              <a:buNone/>
            </a:pPr>
            <a:r>
              <a:rPr lang="en-US" sz="1250" dirty="0">
                <a:solidFill>
                  <a:srgbClr val="333333"/>
                </a:solidFill>
                <a:latin typeface="Calibri" pitchFamily="34" charset="0"/>
                <a:ea typeface="Calibri" pitchFamily="34" charset="-122"/>
                <a:cs typeface="Calibri" pitchFamily="34" charset="-120"/>
              </a:rPr>
              <a:t>Tableau de bord statistique</a:t>
            </a:r>
            <a:endParaRPr lang="en-US" sz="1250" dirty="0"/>
          </a:p>
        </p:txBody>
      </p:sp>
      <p:sp>
        <p:nvSpPr>
          <p:cNvPr id="38" name="Shape 36"/>
          <p:cNvSpPr/>
          <p:nvPr/>
        </p:nvSpPr>
        <p:spPr>
          <a:xfrm>
            <a:off x="8449056" y="5294376"/>
            <a:ext cx="82296" cy="82296"/>
          </a:xfrm>
          <a:prstGeom prst="ellipse">
            <a:avLst/>
          </a:prstGeom>
          <a:solidFill>
            <a:srgbClr val="6E2C2C"/>
          </a:solidFill>
          <a:ln/>
        </p:spPr>
      </p:sp>
      <p:sp>
        <p:nvSpPr>
          <p:cNvPr id="39" name="Text 37"/>
          <p:cNvSpPr/>
          <p:nvPr/>
        </p:nvSpPr>
        <p:spPr>
          <a:xfrm>
            <a:off x="8650224" y="5166360"/>
            <a:ext cx="2862072" cy="594360"/>
          </a:xfrm>
          <a:prstGeom prst="rect">
            <a:avLst/>
          </a:prstGeom>
          <a:noFill/>
          <a:ln/>
        </p:spPr>
        <p:txBody>
          <a:bodyPr wrap="square" lIns="0" tIns="0" rIns="0" bIns="0" rtlCol="0" anchor="t"/>
          <a:lstStyle/>
          <a:p>
            <a:pPr marL="0" indent="0">
              <a:lnSpc>
                <a:spcPct val="110000"/>
              </a:lnSpc>
              <a:buNone/>
            </a:pPr>
            <a:r>
              <a:rPr lang="en-US" sz="1250" dirty="0">
                <a:solidFill>
                  <a:srgbClr val="333333"/>
                </a:solidFill>
                <a:latin typeface="Calibri" pitchFamily="34" charset="0"/>
                <a:ea typeface="Calibri" pitchFamily="34" charset="-122"/>
                <a:cs typeface="Calibri" pitchFamily="34" charset="-120"/>
              </a:rPr>
              <a:t>Supervision globale de la plateforme</a:t>
            </a:r>
            <a:endParaRPr lang="en-US" sz="1250" dirty="0"/>
          </a:p>
        </p:txBody>
      </p:sp>
      <p:sp>
        <p:nvSpPr>
          <p:cNvPr id="40" name="Text 38"/>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CitizenConnect</a:t>
            </a:r>
            <a:endParaRPr lang="en-US" sz="900" dirty="0"/>
          </a:p>
        </p:txBody>
      </p:sp>
      <p:sp>
        <p:nvSpPr>
          <p:cNvPr id="41" name="Text 3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B8863F"/>
                </a:solidFill>
                <a:latin typeface="Calibri" pitchFamily="34" charset="0"/>
                <a:ea typeface="Calibri" pitchFamily="34" charset="-122"/>
                <a:cs typeface="Calibri" pitchFamily="34" charset="-120"/>
              </a:rPr>
              <a:t>CHAPITRE 3</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marL="0" indent="0">
              <a:buNone/>
            </a:pPr>
            <a:r>
              <a:rPr lang="en-US" sz="3000" b="1" dirty="0">
                <a:solidFill>
                  <a:srgbClr val="6E2C2C"/>
                </a:solidFill>
                <a:latin typeface="Cambria" pitchFamily="34" charset="0"/>
                <a:ea typeface="Cambria" pitchFamily="34" charset="-122"/>
                <a:cs typeface="Cambria" pitchFamily="34" charset="-120"/>
              </a:rPr>
              <a:t>Cycle de vie d'une réclamation</a:t>
            </a:r>
            <a:endParaRPr lang="en-US" sz="3000" dirty="0"/>
          </a:p>
        </p:txBody>
      </p:sp>
      <p:sp>
        <p:nvSpPr>
          <p:cNvPr id="4" name="Shape 2"/>
          <p:cNvSpPr/>
          <p:nvPr/>
        </p:nvSpPr>
        <p:spPr>
          <a:xfrm>
            <a:off x="548640" y="1691640"/>
            <a:ext cx="502920" cy="502920"/>
          </a:xfrm>
          <a:prstGeom prst="ellipse">
            <a:avLst/>
          </a:prstGeom>
          <a:solidFill>
            <a:srgbClr val="6E2C2C"/>
          </a:solidFill>
          <a:ln/>
        </p:spPr>
      </p:sp>
      <p:sp>
        <p:nvSpPr>
          <p:cNvPr id="5" name="Text 3"/>
          <p:cNvSpPr/>
          <p:nvPr/>
        </p:nvSpPr>
        <p:spPr>
          <a:xfrm>
            <a:off x="548640" y="16916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Shape 4"/>
          <p:cNvSpPr/>
          <p:nvPr/>
        </p:nvSpPr>
        <p:spPr>
          <a:xfrm>
            <a:off x="1234440" y="1691640"/>
            <a:ext cx="8961120" cy="621792"/>
          </a:xfrm>
          <a:prstGeom prst="roundRect">
            <a:avLst>
              <a:gd name="adj" fmla="val 7353"/>
            </a:avLst>
          </a:prstGeom>
          <a:solidFill>
            <a:srgbClr val="FBFAF8"/>
          </a:solidFill>
          <a:ln w="12700">
            <a:solidFill>
              <a:srgbClr val="E3DDD3"/>
            </a:solidFill>
            <a:prstDash val="solid"/>
          </a:ln>
        </p:spPr>
      </p:sp>
      <p:sp>
        <p:nvSpPr>
          <p:cNvPr id="7" name="Text 5"/>
          <p:cNvSpPr/>
          <p:nvPr/>
        </p:nvSpPr>
        <p:spPr>
          <a:xfrm>
            <a:off x="1463040" y="1691640"/>
            <a:ext cx="2377440" cy="621792"/>
          </a:xfrm>
          <a:prstGeom prst="rect">
            <a:avLst/>
          </a:prstGeom>
          <a:noFill/>
          <a:ln/>
        </p:spPr>
        <p:txBody>
          <a:bodyPr wrap="square" lIns="0" tIns="0" rIns="0" bIns="0" rtlCol="0" anchor="ctr"/>
          <a:lstStyle/>
          <a:p>
            <a:pPr marL="0" indent="0">
              <a:buNone/>
            </a:pPr>
            <a:r>
              <a:rPr lang="en-US" sz="1400" b="1" dirty="0">
                <a:solidFill>
                  <a:srgbClr val="6E2C2C"/>
                </a:solidFill>
                <a:latin typeface="Cambria" pitchFamily="34" charset="0"/>
                <a:ea typeface="Cambria" pitchFamily="34" charset="-122"/>
                <a:cs typeface="Cambria" pitchFamily="34" charset="-120"/>
              </a:rPr>
              <a:t>NOUVELLE</a:t>
            </a:r>
            <a:endParaRPr lang="en-US" sz="1400" dirty="0"/>
          </a:p>
        </p:txBody>
      </p:sp>
      <p:sp>
        <p:nvSpPr>
          <p:cNvPr id="8" name="Text 6"/>
          <p:cNvSpPr/>
          <p:nvPr/>
        </p:nvSpPr>
        <p:spPr>
          <a:xfrm>
            <a:off x="3931920" y="1691640"/>
            <a:ext cx="6035040" cy="621792"/>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La réclamation vient d'être soumise par un citoyen</a:t>
            </a:r>
            <a:endParaRPr lang="en-US" sz="1300" dirty="0"/>
          </a:p>
        </p:txBody>
      </p:sp>
      <p:sp>
        <p:nvSpPr>
          <p:cNvPr id="9" name="Shape 7"/>
          <p:cNvSpPr/>
          <p:nvPr/>
        </p:nvSpPr>
        <p:spPr>
          <a:xfrm>
            <a:off x="548640" y="2468880"/>
            <a:ext cx="502920" cy="502920"/>
          </a:xfrm>
          <a:prstGeom prst="ellipse">
            <a:avLst/>
          </a:prstGeom>
          <a:solidFill>
            <a:srgbClr val="6E2C2C"/>
          </a:solidFill>
          <a:ln/>
        </p:spPr>
      </p:sp>
      <p:sp>
        <p:nvSpPr>
          <p:cNvPr id="10" name="Text 8"/>
          <p:cNvSpPr/>
          <p:nvPr/>
        </p:nvSpPr>
        <p:spPr>
          <a:xfrm>
            <a:off x="548640" y="2468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Shape 9"/>
          <p:cNvSpPr/>
          <p:nvPr/>
        </p:nvSpPr>
        <p:spPr>
          <a:xfrm>
            <a:off x="1234440" y="2468880"/>
            <a:ext cx="8961120" cy="621792"/>
          </a:xfrm>
          <a:prstGeom prst="roundRect">
            <a:avLst>
              <a:gd name="adj" fmla="val 7353"/>
            </a:avLst>
          </a:prstGeom>
          <a:solidFill>
            <a:srgbClr val="FBFAF8"/>
          </a:solidFill>
          <a:ln w="12700">
            <a:solidFill>
              <a:srgbClr val="E3DDD3"/>
            </a:solidFill>
            <a:prstDash val="solid"/>
          </a:ln>
        </p:spPr>
      </p:sp>
      <p:sp>
        <p:nvSpPr>
          <p:cNvPr id="12" name="Text 10"/>
          <p:cNvSpPr/>
          <p:nvPr/>
        </p:nvSpPr>
        <p:spPr>
          <a:xfrm>
            <a:off x="1463040" y="2468880"/>
            <a:ext cx="2377440" cy="621792"/>
          </a:xfrm>
          <a:prstGeom prst="rect">
            <a:avLst/>
          </a:prstGeom>
          <a:noFill/>
          <a:ln/>
        </p:spPr>
        <p:txBody>
          <a:bodyPr wrap="square" lIns="0" tIns="0" rIns="0" bIns="0" rtlCol="0" anchor="ctr"/>
          <a:lstStyle/>
          <a:p>
            <a:pPr marL="0" indent="0">
              <a:buNone/>
            </a:pPr>
            <a:r>
              <a:rPr lang="en-US" sz="1400" b="1" dirty="0">
                <a:solidFill>
                  <a:srgbClr val="6E2C2C"/>
                </a:solidFill>
                <a:latin typeface="Cambria" pitchFamily="34" charset="0"/>
                <a:ea typeface="Cambria" pitchFamily="34" charset="-122"/>
                <a:cs typeface="Cambria" pitchFamily="34" charset="-120"/>
              </a:rPr>
              <a:t>EN COURS</a:t>
            </a:r>
            <a:endParaRPr lang="en-US" sz="1400" dirty="0"/>
          </a:p>
        </p:txBody>
      </p:sp>
      <p:sp>
        <p:nvSpPr>
          <p:cNvPr id="13" name="Text 11"/>
          <p:cNvSpPr/>
          <p:nvPr/>
        </p:nvSpPr>
        <p:spPr>
          <a:xfrm>
            <a:off x="3931920" y="2468880"/>
            <a:ext cx="6035040" cy="621792"/>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Un agent a pris en charge le dossier</a:t>
            </a:r>
            <a:endParaRPr lang="en-US" sz="1300" dirty="0"/>
          </a:p>
        </p:txBody>
      </p:sp>
      <p:sp>
        <p:nvSpPr>
          <p:cNvPr id="14" name="Shape 12"/>
          <p:cNvSpPr/>
          <p:nvPr/>
        </p:nvSpPr>
        <p:spPr>
          <a:xfrm>
            <a:off x="548640" y="3246120"/>
            <a:ext cx="502920" cy="502920"/>
          </a:xfrm>
          <a:prstGeom prst="ellipse">
            <a:avLst/>
          </a:prstGeom>
          <a:solidFill>
            <a:srgbClr val="6E2C2C"/>
          </a:solidFill>
          <a:ln/>
        </p:spPr>
      </p:sp>
      <p:sp>
        <p:nvSpPr>
          <p:cNvPr id="15" name="Text 13"/>
          <p:cNvSpPr/>
          <p:nvPr/>
        </p:nvSpPr>
        <p:spPr>
          <a:xfrm>
            <a:off x="548640" y="32461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Shape 14"/>
          <p:cNvSpPr/>
          <p:nvPr/>
        </p:nvSpPr>
        <p:spPr>
          <a:xfrm>
            <a:off x="1234440" y="3246120"/>
            <a:ext cx="8961120" cy="621792"/>
          </a:xfrm>
          <a:prstGeom prst="roundRect">
            <a:avLst>
              <a:gd name="adj" fmla="val 7353"/>
            </a:avLst>
          </a:prstGeom>
          <a:solidFill>
            <a:srgbClr val="FBFAF8"/>
          </a:solidFill>
          <a:ln w="12700">
            <a:solidFill>
              <a:srgbClr val="E3DDD3"/>
            </a:solidFill>
            <a:prstDash val="solid"/>
          </a:ln>
        </p:spPr>
      </p:sp>
      <p:sp>
        <p:nvSpPr>
          <p:cNvPr id="17" name="Text 15"/>
          <p:cNvSpPr/>
          <p:nvPr/>
        </p:nvSpPr>
        <p:spPr>
          <a:xfrm>
            <a:off x="1463040" y="3246120"/>
            <a:ext cx="2377440" cy="621792"/>
          </a:xfrm>
          <a:prstGeom prst="rect">
            <a:avLst/>
          </a:prstGeom>
          <a:noFill/>
          <a:ln/>
        </p:spPr>
        <p:txBody>
          <a:bodyPr wrap="square" lIns="0" tIns="0" rIns="0" bIns="0" rtlCol="0" anchor="ctr"/>
          <a:lstStyle/>
          <a:p>
            <a:pPr marL="0" indent="0">
              <a:buNone/>
            </a:pPr>
            <a:r>
              <a:rPr lang="en-US" sz="1400" b="1" dirty="0">
                <a:solidFill>
                  <a:srgbClr val="6E2C2C"/>
                </a:solidFill>
                <a:latin typeface="Cambria" pitchFamily="34" charset="0"/>
                <a:ea typeface="Cambria" pitchFamily="34" charset="-122"/>
                <a:cs typeface="Cambria" pitchFamily="34" charset="-120"/>
              </a:rPr>
              <a:t>EN ATTENTE</a:t>
            </a:r>
            <a:endParaRPr lang="en-US" sz="1400" dirty="0"/>
          </a:p>
        </p:txBody>
      </p:sp>
      <p:sp>
        <p:nvSpPr>
          <p:cNvPr id="18" name="Text 16"/>
          <p:cNvSpPr/>
          <p:nvPr/>
        </p:nvSpPr>
        <p:spPr>
          <a:xfrm>
            <a:off x="3931920" y="3246120"/>
            <a:ext cx="6035040" cy="621792"/>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Traitement suspendu (ex. informations manquantes)</a:t>
            </a:r>
            <a:endParaRPr lang="en-US" sz="1300" dirty="0"/>
          </a:p>
        </p:txBody>
      </p:sp>
      <p:sp>
        <p:nvSpPr>
          <p:cNvPr id="19" name="Shape 17"/>
          <p:cNvSpPr/>
          <p:nvPr/>
        </p:nvSpPr>
        <p:spPr>
          <a:xfrm>
            <a:off x="548640" y="4023360"/>
            <a:ext cx="502920" cy="502920"/>
          </a:xfrm>
          <a:prstGeom prst="ellipse">
            <a:avLst/>
          </a:prstGeom>
          <a:solidFill>
            <a:srgbClr val="6E2C2C"/>
          </a:solidFill>
          <a:ln/>
        </p:spPr>
      </p:sp>
      <p:sp>
        <p:nvSpPr>
          <p:cNvPr id="20" name="Text 18"/>
          <p:cNvSpPr/>
          <p:nvPr/>
        </p:nvSpPr>
        <p:spPr>
          <a:xfrm>
            <a:off x="548640" y="40233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Shape 19"/>
          <p:cNvSpPr/>
          <p:nvPr/>
        </p:nvSpPr>
        <p:spPr>
          <a:xfrm>
            <a:off x="1234440" y="4023360"/>
            <a:ext cx="8961120" cy="621792"/>
          </a:xfrm>
          <a:prstGeom prst="roundRect">
            <a:avLst>
              <a:gd name="adj" fmla="val 7353"/>
            </a:avLst>
          </a:prstGeom>
          <a:solidFill>
            <a:srgbClr val="FBFAF8"/>
          </a:solidFill>
          <a:ln w="12700">
            <a:solidFill>
              <a:srgbClr val="E3DDD3"/>
            </a:solidFill>
            <a:prstDash val="solid"/>
          </a:ln>
        </p:spPr>
      </p:sp>
      <p:sp>
        <p:nvSpPr>
          <p:cNvPr id="22" name="Text 20"/>
          <p:cNvSpPr/>
          <p:nvPr/>
        </p:nvSpPr>
        <p:spPr>
          <a:xfrm>
            <a:off x="1463040" y="4023360"/>
            <a:ext cx="2377440" cy="621792"/>
          </a:xfrm>
          <a:prstGeom prst="rect">
            <a:avLst/>
          </a:prstGeom>
          <a:noFill/>
          <a:ln/>
        </p:spPr>
        <p:txBody>
          <a:bodyPr wrap="square" lIns="0" tIns="0" rIns="0" bIns="0" rtlCol="0" anchor="ctr"/>
          <a:lstStyle/>
          <a:p>
            <a:pPr marL="0" indent="0">
              <a:buNone/>
            </a:pPr>
            <a:r>
              <a:rPr lang="en-US" sz="1400" b="1" dirty="0">
                <a:solidFill>
                  <a:srgbClr val="6E2C2C"/>
                </a:solidFill>
                <a:latin typeface="Cambria" pitchFamily="34" charset="0"/>
                <a:ea typeface="Cambria" pitchFamily="34" charset="-122"/>
                <a:cs typeface="Cambria" pitchFamily="34" charset="-120"/>
              </a:rPr>
              <a:t>RÉSOLUE</a:t>
            </a:r>
            <a:endParaRPr lang="en-US" sz="1400" dirty="0"/>
          </a:p>
        </p:txBody>
      </p:sp>
      <p:sp>
        <p:nvSpPr>
          <p:cNvPr id="23" name="Text 21"/>
          <p:cNvSpPr/>
          <p:nvPr/>
        </p:nvSpPr>
        <p:spPr>
          <a:xfrm>
            <a:off x="3931920" y="4023360"/>
            <a:ext cx="6035040" cy="621792"/>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Le problème a été traité</a:t>
            </a:r>
            <a:endParaRPr lang="en-US" sz="1300" dirty="0"/>
          </a:p>
        </p:txBody>
      </p:sp>
      <p:sp>
        <p:nvSpPr>
          <p:cNvPr id="24" name="Shape 22"/>
          <p:cNvSpPr/>
          <p:nvPr/>
        </p:nvSpPr>
        <p:spPr>
          <a:xfrm>
            <a:off x="548640" y="4800600"/>
            <a:ext cx="502920" cy="502920"/>
          </a:xfrm>
          <a:prstGeom prst="ellipse">
            <a:avLst/>
          </a:prstGeom>
          <a:solidFill>
            <a:srgbClr val="6E2C2C"/>
          </a:solidFill>
          <a:ln/>
        </p:spPr>
      </p:sp>
      <p:sp>
        <p:nvSpPr>
          <p:cNvPr id="25" name="Text 23"/>
          <p:cNvSpPr/>
          <p:nvPr/>
        </p:nvSpPr>
        <p:spPr>
          <a:xfrm>
            <a:off x="548640" y="48006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6" name="Shape 24"/>
          <p:cNvSpPr/>
          <p:nvPr/>
        </p:nvSpPr>
        <p:spPr>
          <a:xfrm>
            <a:off x="1234440" y="4800600"/>
            <a:ext cx="8961120" cy="621792"/>
          </a:xfrm>
          <a:prstGeom prst="roundRect">
            <a:avLst>
              <a:gd name="adj" fmla="val 7353"/>
            </a:avLst>
          </a:prstGeom>
          <a:solidFill>
            <a:srgbClr val="FBFAF8"/>
          </a:solidFill>
          <a:ln w="12700">
            <a:solidFill>
              <a:srgbClr val="E3DDD3"/>
            </a:solidFill>
            <a:prstDash val="solid"/>
          </a:ln>
        </p:spPr>
      </p:sp>
      <p:sp>
        <p:nvSpPr>
          <p:cNvPr id="27" name="Text 25"/>
          <p:cNvSpPr/>
          <p:nvPr/>
        </p:nvSpPr>
        <p:spPr>
          <a:xfrm>
            <a:off x="1463040" y="4800600"/>
            <a:ext cx="2377440" cy="621792"/>
          </a:xfrm>
          <a:prstGeom prst="rect">
            <a:avLst/>
          </a:prstGeom>
          <a:noFill/>
          <a:ln/>
        </p:spPr>
        <p:txBody>
          <a:bodyPr wrap="square" lIns="0" tIns="0" rIns="0" bIns="0" rtlCol="0" anchor="ctr"/>
          <a:lstStyle/>
          <a:p>
            <a:pPr marL="0" indent="0">
              <a:buNone/>
            </a:pPr>
            <a:r>
              <a:rPr lang="en-US" sz="1400" b="1" dirty="0">
                <a:solidFill>
                  <a:srgbClr val="6E2C2C"/>
                </a:solidFill>
                <a:latin typeface="Cambria" pitchFamily="34" charset="0"/>
                <a:ea typeface="Cambria" pitchFamily="34" charset="-122"/>
                <a:cs typeface="Cambria" pitchFamily="34" charset="-120"/>
              </a:rPr>
              <a:t>CLÔTURÉE</a:t>
            </a:r>
            <a:endParaRPr lang="en-US" sz="1400" dirty="0"/>
          </a:p>
        </p:txBody>
      </p:sp>
      <p:sp>
        <p:nvSpPr>
          <p:cNvPr id="28" name="Text 26"/>
          <p:cNvSpPr/>
          <p:nvPr/>
        </p:nvSpPr>
        <p:spPr>
          <a:xfrm>
            <a:off x="3931920" y="4800600"/>
            <a:ext cx="6035040" cy="621792"/>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Le dossier est définitivement clos</a:t>
            </a:r>
            <a:endParaRPr lang="en-US" sz="1300" dirty="0"/>
          </a:p>
        </p:txBody>
      </p:sp>
      <p:sp>
        <p:nvSpPr>
          <p:cNvPr id="29" name="Shape 27"/>
          <p:cNvSpPr/>
          <p:nvPr/>
        </p:nvSpPr>
        <p:spPr>
          <a:xfrm>
            <a:off x="10332720" y="1691640"/>
            <a:ext cx="1325880" cy="3749040"/>
          </a:xfrm>
          <a:prstGeom prst="roundRect">
            <a:avLst>
              <a:gd name="adj" fmla="val 4138"/>
            </a:avLst>
          </a:prstGeom>
          <a:solidFill>
            <a:srgbClr val="6E2C2C"/>
          </a:solidFill>
          <a:ln/>
        </p:spPr>
      </p:sp>
      <p:sp>
        <p:nvSpPr>
          <p:cNvPr id="30" name="Text 28"/>
          <p:cNvSpPr/>
          <p:nvPr/>
        </p:nvSpPr>
        <p:spPr>
          <a:xfrm>
            <a:off x="10332720" y="1965960"/>
            <a:ext cx="1325880" cy="109728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REJETÉE</a:t>
            </a:r>
            <a:endParaRPr lang="en-US" sz="1400" dirty="0"/>
          </a:p>
        </p:txBody>
      </p:sp>
      <p:sp>
        <p:nvSpPr>
          <p:cNvPr id="31" name="Text 29"/>
          <p:cNvSpPr/>
          <p:nvPr/>
        </p:nvSpPr>
        <p:spPr>
          <a:xfrm>
            <a:off x="10442448" y="3063240"/>
            <a:ext cx="1097280" cy="2194560"/>
          </a:xfrm>
          <a:prstGeom prst="rect">
            <a:avLst/>
          </a:prstGeom>
          <a:noFill/>
          <a:ln/>
        </p:spPr>
        <p:txBody>
          <a:bodyPr wrap="square" lIns="0" tIns="0" rIns="0" bIns="0" rtlCol="0" anchor="ctr"/>
          <a:lstStyle/>
          <a:p>
            <a:pPr marL="0" indent="0" algn="ctr">
              <a:buNone/>
            </a:pPr>
            <a:r>
              <a:rPr lang="en-US" sz="1050" dirty="0">
                <a:solidFill>
                  <a:srgbClr val="EFE6DD"/>
                </a:solidFill>
                <a:latin typeface="Calibri" pitchFamily="34" charset="0"/>
                <a:ea typeface="Calibri" pitchFamily="34" charset="-122"/>
                <a:cs typeface="Calibri" pitchFamily="34" charset="-120"/>
              </a:rPr>
              <a:t>Possible depuis NOUVELLE ou EN COURS</a:t>
            </a:r>
            <a:endParaRPr lang="en-US" sz="1050" dirty="0"/>
          </a:p>
        </p:txBody>
      </p:sp>
      <p:sp>
        <p:nvSpPr>
          <p:cNvPr id="32" name="Text 30"/>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CitizenConnect</a:t>
            </a:r>
            <a:endParaRPr lang="en-US" sz="900" dirty="0"/>
          </a:p>
        </p:txBody>
      </p:sp>
      <p:sp>
        <p:nvSpPr>
          <p:cNvPr id="33" name="Text 3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B8863F"/>
                </a:solidFill>
                <a:latin typeface="Calibri" pitchFamily="34" charset="0"/>
                <a:ea typeface="Calibri" pitchFamily="34" charset="-122"/>
                <a:cs typeface="Calibri" pitchFamily="34" charset="-120"/>
              </a:rPr>
              <a:t>CHAPITRE 3</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marL="0" indent="0">
              <a:buNone/>
            </a:pPr>
            <a:r>
              <a:rPr lang="en-US" sz="3000" b="1" dirty="0">
                <a:solidFill>
                  <a:srgbClr val="6E2C2C"/>
                </a:solidFill>
                <a:latin typeface="Cambria" pitchFamily="34" charset="0"/>
                <a:ea typeface="Cambria" pitchFamily="34" charset="-122"/>
                <a:cs typeface="Cambria" pitchFamily="34" charset="-120"/>
              </a:rPr>
              <a:t>Sécurité — contrôle d'accès à trois niveaux</a:t>
            </a:r>
            <a:endParaRPr lang="en-US" sz="3000" dirty="0"/>
          </a:p>
        </p:txBody>
      </p:sp>
      <p:sp>
        <p:nvSpPr>
          <p:cNvPr id="4" name="Shape 2"/>
          <p:cNvSpPr/>
          <p:nvPr/>
        </p:nvSpPr>
        <p:spPr>
          <a:xfrm>
            <a:off x="548640" y="1737360"/>
            <a:ext cx="548640" cy="548640"/>
          </a:xfrm>
          <a:prstGeom prst="ellipse">
            <a:avLst/>
          </a:prstGeom>
          <a:solidFill>
            <a:srgbClr val="6E2C2C"/>
          </a:solidFill>
          <a:ln/>
        </p:spPr>
      </p:sp>
      <p:sp>
        <p:nvSpPr>
          <p:cNvPr id="5" name="Text 3"/>
          <p:cNvSpPr/>
          <p:nvPr/>
        </p:nvSpPr>
        <p:spPr>
          <a:xfrm>
            <a:off x="548640" y="173736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Shape 4"/>
          <p:cNvSpPr/>
          <p:nvPr/>
        </p:nvSpPr>
        <p:spPr>
          <a:xfrm>
            <a:off x="1325880" y="1664208"/>
            <a:ext cx="10332720" cy="1234440"/>
          </a:xfrm>
          <a:prstGeom prst="roundRect">
            <a:avLst>
              <a:gd name="adj" fmla="val 4444"/>
            </a:avLst>
          </a:prstGeom>
          <a:solidFill>
            <a:srgbClr val="FBFAF8"/>
          </a:solidFill>
          <a:ln w="12700">
            <a:solidFill>
              <a:srgbClr val="E3DDD3"/>
            </a:solidFill>
            <a:prstDash val="solid"/>
          </a:ln>
        </p:spPr>
      </p:sp>
      <p:sp>
        <p:nvSpPr>
          <p:cNvPr id="7" name="Text 5"/>
          <p:cNvSpPr/>
          <p:nvPr/>
        </p:nvSpPr>
        <p:spPr>
          <a:xfrm>
            <a:off x="1600200" y="1719072"/>
            <a:ext cx="2743200" cy="1097280"/>
          </a:xfrm>
          <a:prstGeom prst="rect">
            <a:avLst/>
          </a:prstGeom>
          <a:noFill/>
          <a:ln/>
        </p:spPr>
        <p:txBody>
          <a:bodyPr wrap="square" lIns="0" tIns="0" rIns="0" bIns="0" rtlCol="0" anchor="ctr"/>
          <a:lstStyle/>
          <a:p>
            <a:pPr marL="0" indent="0">
              <a:buNone/>
            </a:pPr>
            <a:r>
              <a:rPr lang="en-US" sz="1600" b="1" dirty="0">
                <a:solidFill>
                  <a:srgbClr val="6E2C2C"/>
                </a:solidFill>
                <a:latin typeface="Cambria" pitchFamily="34" charset="0"/>
                <a:ea typeface="Cambria" pitchFamily="34" charset="-122"/>
                <a:cs typeface="Cambria" pitchFamily="34" charset="-120"/>
              </a:rPr>
              <a:t>Niveau URL</a:t>
            </a:r>
            <a:endParaRPr lang="en-US" sz="1600" dirty="0"/>
          </a:p>
        </p:txBody>
      </p:sp>
      <p:sp>
        <p:nvSpPr>
          <p:cNvPr id="8" name="Text 6"/>
          <p:cNvSpPr/>
          <p:nvPr/>
        </p:nvSpPr>
        <p:spPr>
          <a:xfrm>
            <a:off x="4434840" y="1719072"/>
            <a:ext cx="7040880" cy="1097280"/>
          </a:xfrm>
          <a:prstGeom prst="rect">
            <a:avLst/>
          </a:prstGeom>
          <a:noFill/>
          <a:ln/>
        </p:spPr>
        <p:txBody>
          <a:bodyPr wrap="square" lIns="0" tIns="0" rIns="0" bIns="0" rtlCol="0" anchor="ctr"/>
          <a:lstStyle/>
          <a:p>
            <a:pPr marL="0" indent="0">
              <a:lnSpc>
                <a:spcPct val="115000"/>
              </a:lnSpc>
              <a:buNone/>
            </a:pPr>
            <a:r>
              <a:rPr lang="en-US" sz="1250" dirty="0">
                <a:solidFill>
                  <a:srgbClr val="333333"/>
                </a:solidFill>
                <a:latin typeface="Calibri" pitchFamily="34" charset="0"/>
                <a:ea typeface="Calibri" pitchFamily="34" charset="-122"/>
                <a:cs typeface="Calibri" pitchFamily="34" charset="-120"/>
              </a:rPr>
              <a:t>/users/**, /roles/**, /categories/** et /statistics/** réservées à ROLE_ADMIN dans la chaîne de filtres de sécurité.</a:t>
            </a:r>
            <a:endParaRPr lang="en-US" sz="1250" dirty="0"/>
          </a:p>
        </p:txBody>
      </p:sp>
      <p:sp>
        <p:nvSpPr>
          <p:cNvPr id="9" name="Shape 7"/>
          <p:cNvSpPr/>
          <p:nvPr/>
        </p:nvSpPr>
        <p:spPr>
          <a:xfrm>
            <a:off x="548640" y="3154680"/>
            <a:ext cx="548640" cy="548640"/>
          </a:xfrm>
          <a:prstGeom prst="ellipse">
            <a:avLst/>
          </a:prstGeom>
          <a:solidFill>
            <a:srgbClr val="6E2C2C"/>
          </a:solidFill>
          <a:ln/>
        </p:spPr>
      </p:sp>
      <p:sp>
        <p:nvSpPr>
          <p:cNvPr id="10" name="Text 8"/>
          <p:cNvSpPr/>
          <p:nvPr/>
        </p:nvSpPr>
        <p:spPr>
          <a:xfrm>
            <a:off x="548640" y="31546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Shape 9"/>
          <p:cNvSpPr/>
          <p:nvPr/>
        </p:nvSpPr>
        <p:spPr>
          <a:xfrm>
            <a:off x="1325880" y="3081528"/>
            <a:ext cx="10332720" cy="1234440"/>
          </a:xfrm>
          <a:prstGeom prst="roundRect">
            <a:avLst>
              <a:gd name="adj" fmla="val 4444"/>
            </a:avLst>
          </a:prstGeom>
          <a:solidFill>
            <a:srgbClr val="FBFAF8"/>
          </a:solidFill>
          <a:ln w="12700">
            <a:solidFill>
              <a:srgbClr val="E3DDD3"/>
            </a:solidFill>
            <a:prstDash val="solid"/>
          </a:ln>
        </p:spPr>
      </p:sp>
      <p:sp>
        <p:nvSpPr>
          <p:cNvPr id="12" name="Text 10"/>
          <p:cNvSpPr/>
          <p:nvPr/>
        </p:nvSpPr>
        <p:spPr>
          <a:xfrm>
            <a:off x="1600200" y="3136392"/>
            <a:ext cx="2743200" cy="1097280"/>
          </a:xfrm>
          <a:prstGeom prst="rect">
            <a:avLst/>
          </a:prstGeom>
          <a:noFill/>
          <a:ln/>
        </p:spPr>
        <p:txBody>
          <a:bodyPr wrap="square" lIns="0" tIns="0" rIns="0" bIns="0" rtlCol="0" anchor="ctr"/>
          <a:lstStyle/>
          <a:p>
            <a:pPr marL="0" indent="0">
              <a:buNone/>
            </a:pPr>
            <a:r>
              <a:rPr lang="en-US" sz="1600" b="1" dirty="0">
                <a:solidFill>
                  <a:srgbClr val="6E2C2C"/>
                </a:solidFill>
                <a:latin typeface="Cambria" pitchFamily="34" charset="0"/>
                <a:ea typeface="Cambria" pitchFamily="34" charset="-122"/>
                <a:cs typeface="Cambria" pitchFamily="34" charset="-120"/>
              </a:rPr>
              <a:t>Niveau méthode</a:t>
            </a:r>
            <a:endParaRPr lang="en-US" sz="1600" dirty="0"/>
          </a:p>
        </p:txBody>
      </p:sp>
      <p:sp>
        <p:nvSpPr>
          <p:cNvPr id="13" name="Text 11"/>
          <p:cNvSpPr/>
          <p:nvPr/>
        </p:nvSpPr>
        <p:spPr>
          <a:xfrm>
            <a:off x="4434840" y="3136392"/>
            <a:ext cx="7040880" cy="1097280"/>
          </a:xfrm>
          <a:prstGeom prst="rect">
            <a:avLst/>
          </a:prstGeom>
          <a:noFill/>
          <a:ln/>
        </p:spPr>
        <p:txBody>
          <a:bodyPr wrap="square" lIns="0" tIns="0" rIns="0" bIns="0" rtlCol="0" anchor="ctr"/>
          <a:lstStyle/>
          <a:p>
            <a:pPr marL="0" indent="0">
              <a:lnSpc>
                <a:spcPct val="115000"/>
              </a:lnSpc>
              <a:buNone/>
            </a:pPr>
            <a:r>
              <a:rPr lang="en-US" sz="1250" dirty="0">
                <a:solidFill>
                  <a:srgbClr val="333333"/>
                </a:solidFill>
                <a:latin typeface="Calibri" pitchFamily="34" charset="0"/>
                <a:ea typeface="Calibri" pitchFamily="34" charset="-122"/>
                <a:cs typeface="Calibri" pitchFamily="34" charset="-120"/>
              </a:rPr>
              <a:t>Annotations @PreAuthorize : seul un citoyen crée une réclamation, seuls agent/admin changent un statut ou commentent.</a:t>
            </a:r>
            <a:endParaRPr lang="en-US" sz="1250" dirty="0"/>
          </a:p>
        </p:txBody>
      </p:sp>
      <p:sp>
        <p:nvSpPr>
          <p:cNvPr id="14" name="Shape 12"/>
          <p:cNvSpPr/>
          <p:nvPr/>
        </p:nvSpPr>
        <p:spPr>
          <a:xfrm>
            <a:off x="548640" y="4572000"/>
            <a:ext cx="548640" cy="548640"/>
          </a:xfrm>
          <a:prstGeom prst="ellipse">
            <a:avLst/>
          </a:prstGeom>
          <a:solidFill>
            <a:srgbClr val="6E2C2C"/>
          </a:solidFill>
          <a:ln/>
        </p:spPr>
      </p:sp>
      <p:sp>
        <p:nvSpPr>
          <p:cNvPr id="15" name="Text 13"/>
          <p:cNvSpPr/>
          <p:nvPr/>
        </p:nvSpPr>
        <p:spPr>
          <a:xfrm>
            <a:off x="548640" y="45720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Shape 14"/>
          <p:cNvSpPr/>
          <p:nvPr/>
        </p:nvSpPr>
        <p:spPr>
          <a:xfrm>
            <a:off x="1325880" y="4498848"/>
            <a:ext cx="10332720" cy="1234440"/>
          </a:xfrm>
          <a:prstGeom prst="roundRect">
            <a:avLst>
              <a:gd name="adj" fmla="val 4444"/>
            </a:avLst>
          </a:prstGeom>
          <a:solidFill>
            <a:srgbClr val="FBFAF8"/>
          </a:solidFill>
          <a:ln w="12700">
            <a:solidFill>
              <a:srgbClr val="E3DDD3"/>
            </a:solidFill>
            <a:prstDash val="solid"/>
          </a:ln>
        </p:spPr>
      </p:sp>
      <p:sp>
        <p:nvSpPr>
          <p:cNvPr id="17" name="Text 15"/>
          <p:cNvSpPr/>
          <p:nvPr/>
        </p:nvSpPr>
        <p:spPr>
          <a:xfrm>
            <a:off x="1600200" y="4553712"/>
            <a:ext cx="2743200" cy="1097280"/>
          </a:xfrm>
          <a:prstGeom prst="rect">
            <a:avLst/>
          </a:prstGeom>
          <a:noFill/>
          <a:ln/>
        </p:spPr>
        <p:txBody>
          <a:bodyPr wrap="square" lIns="0" tIns="0" rIns="0" bIns="0" rtlCol="0" anchor="ctr"/>
          <a:lstStyle/>
          <a:p>
            <a:pPr marL="0" indent="0">
              <a:buNone/>
            </a:pPr>
            <a:r>
              <a:rPr lang="en-US" sz="1600" b="1" dirty="0">
                <a:solidFill>
                  <a:srgbClr val="6E2C2C"/>
                </a:solidFill>
                <a:latin typeface="Cambria" pitchFamily="34" charset="0"/>
                <a:ea typeface="Cambria" pitchFamily="34" charset="-122"/>
                <a:cs typeface="Cambria" pitchFamily="34" charset="-120"/>
              </a:rPr>
              <a:t>Niveau objet</a:t>
            </a:r>
            <a:endParaRPr lang="en-US" sz="1600" dirty="0"/>
          </a:p>
        </p:txBody>
      </p:sp>
      <p:sp>
        <p:nvSpPr>
          <p:cNvPr id="18" name="Text 16"/>
          <p:cNvSpPr/>
          <p:nvPr/>
        </p:nvSpPr>
        <p:spPr>
          <a:xfrm>
            <a:off x="4434840" y="4553712"/>
            <a:ext cx="7040880" cy="1097280"/>
          </a:xfrm>
          <a:prstGeom prst="rect">
            <a:avLst/>
          </a:prstGeom>
          <a:noFill/>
          <a:ln/>
        </p:spPr>
        <p:txBody>
          <a:bodyPr wrap="square" lIns="0" tIns="0" rIns="0" bIns="0" rtlCol="0" anchor="ctr"/>
          <a:lstStyle/>
          <a:p>
            <a:pPr marL="0" indent="0">
              <a:lnSpc>
                <a:spcPct val="115000"/>
              </a:lnSpc>
              <a:buNone/>
            </a:pPr>
            <a:r>
              <a:rPr lang="en-US" sz="1250" dirty="0">
                <a:solidFill>
                  <a:srgbClr val="333333"/>
                </a:solidFill>
                <a:latin typeface="Calibri" pitchFamily="34" charset="0"/>
                <a:ea typeface="Calibri" pitchFamily="34" charset="-122"/>
                <a:cs typeface="Calibri" pitchFamily="34" charset="-120"/>
              </a:rPr>
              <a:t>Vérification métier (canAccess) : un agent ne voit que ses réclamations assignées, un citoyen que les siennes — même via manipulation d'URL.</a:t>
            </a:r>
            <a:endParaRPr lang="en-US" sz="1250" dirty="0"/>
          </a:p>
        </p:txBody>
      </p:sp>
      <p:sp>
        <p:nvSpPr>
          <p:cNvPr id="19" name="Text 17"/>
          <p:cNvSpPr/>
          <p:nvPr/>
        </p:nvSpPr>
        <p:spPr>
          <a:xfrm>
            <a:off x="548640" y="6172200"/>
            <a:ext cx="11064240" cy="365760"/>
          </a:xfrm>
          <a:prstGeom prst="rect">
            <a:avLst/>
          </a:prstGeom>
          <a:noFill/>
          <a:ln/>
        </p:spPr>
        <p:txBody>
          <a:bodyPr wrap="square" lIns="0" tIns="0" rIns="0" bIns="0" rtlCol="0" anchor="ctr"/>
          <a:lstStyle/>
          <a:p>
            <a:pPr marL="0" indent="0">
              <a:buNone/>
            </a:pPr>
            <a:r>
              <a:rPr lang="en-US" sz="1150" i="1" dirty="0">
                <a:solidFill>
                  <a:srgbClr val="5A5A5A"/>
                </a:solidFill>
                <a:latin typeface="Calibri" pitchFamily="34" charset="0"/>
                <a:ea typeface="Calibri" pitchFamily="34" charset="-122"/>
                <a:cs typeface="Calibri" pitchFamily="34" charset="-120"/>
              </a:rPr>
              <a:t>Mots de passe chiffrés avec BCrypt · session unique par utilisateur · pages d'erreur 403 / 404 / 500 centralisées</a:t>
            </a:r>
            <a:endParaRPr lang="en-US" sz="1150" dirty="0"/>
          </a:p>
        </p:txBody>
      </p:sp>
      <p:sp>
        <p:nvSpPr>
          <p:cNvPr id="20" name="Text 18"/>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CitizenConnect</a:t>
            </a:r>
            <a:endParaRPr lang="en-US" sz="900" dirty="0"/>
          </a:p>
        </p:txBody>
      </p:sp>
      <p:sp>
        <p:nvSpPr>
          <p:cNvPr id="21"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D1717"/>
        </a:solidFill>
        <a:effectLst/>
      </p:bgPr>
    </p:bg>
    <p:spTree>
      <p:nvGrpSpPr>
        <p:cNvPr id="1" name=""/>
        <p:cNvGrpSpPr/>
        <p:nvPr/>
      </p:nvGrpSpPr>
      <p:grpSpPr>
        <a:xfrm>
          <a:off x="0" y="0"/>
          <a:ext cx="0" cy="0"/>
          <a:chOff x="0" y="0"/>
          <a:chExt cx="0" cy="0"/>
        </a:xfrm>
      </p:grpSpPr>
      <p:sp>
        <p:nvSpPr>
          <p:cNvPr id="2" name="Shape 0"/>
          <p:cNvSpPr/>
          <p:nvPr/>
        </p:nvSpPr>
        <p:spPr>
          <a:xfrm>
            <a:off x="9418320" y="-1645920"/>
            <a:ext cx="4572000" cy="4572000"/>
          </a:xfrm>
          <a:prstGeom prst="ellipse">
            <a:avLst/>
          </a:prstGeom>
          <a:solidFill>
            <a:srgbClr val="6E2C2C"/>
          </a:solidFill>
          <a:ln/>
        </p:spPr>
      </p:sp>
      <p:sp>
        <p:nvSpPr>
          <p:cNvPr id="3" name="Text 1"/>
          <p:cNvSpPr/>
          <p:nvPr/>
        </p:nvSpPr>
        <p:spPr>
          <a:xfrm>
            <a:off x="548640" y="502920"/>
            <a:ext cx="9144000" cy="320040"/>
          </a:xfrm>
          <a:prstGeom prst="rect">
            <a:avLst/>
          </a:prstGeom>
          <a:noFill/>
          <a:ln/>
        </p:spPr>
        <p:txBody>
          <a:bodyPr wrap="square" lIns="0" tIns="0" rIns="0" bIns="0" rtlCol="0" anchor="ctr"/>
          <a:lstStyle/>
          <a:p>
            <a:pPr marL="0" indent="0">
              <a:buNone/>
            </a:pPr>
            <a:r>
              <a:rPr lang="en-US" sz="1200" b="1" kern="0" spc="150" dirty="0">
                <a:solidFill>
                  <a:srgbClr val="B8863F"/>
                </a:solidFill>
                <a:latin typeface="Calibri" pitchFamily="34" charset="0"/>
                <a:ea typeface="Calibri" pitchFamily="34" charset="-122"/>
                <a:cs typeface="Calibri" pitchFamily="34" charset="-120"/>
              </a:rPr>
              <a:t>CE QUI REND LA PLATEFORME ROBUSTE</a:t>
            </a:r>
            <a:endParaRPr lang="en-US" sz="1200" dirty="0"/>
          </a:p>
        </p:txBody>
      </p:sp>
      <p:sp>
        <p:nvSpPr>
          <p:cNvPr id="4" name="Text 2"/>
          <p:cNvSpPr/>
          <p:nvPr/>
        </p:nvSpPr>
        <p:spPr>
          <a:xfrm>
            <a:off x="548640" y="804672"/>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Points forts techniques</a:t>
            </a:r>
            <a:endParaRPr lang="en-US" sz="3000" dirty="0"/>
          </a:p>
        </p:txBody>
      </p:sp>
      <p:sp>
        <p:nvSpPr>
          <p:cNvPr id="5" name="Shape 3"/>
          <p:cNvSpPr/>
          <p:nvPr/>
        </p:nvSpPr>
        <p:spPr>
          <a:xfrm>
            <a:off x="548640" y="1874520"/>
            <a:ext cx="5349240" cy="1188720"/>
          </a:xfrm>
          <a:prstGeom prst="roundRect">
            <a:avLst>
              <a:gd name="adj" fmla="val 5385"/>
            </a:avLst>
          </a:prstGeom>
          <a:solidFill>
            <a:srgbClr val="4A1D1D"/>
          </a:solidFill>
          <a:ln/>
        </p:spPr>
      </p:sp>
      <p:sp>
        <p:nvSpPr>
          <p:cNvPr id="6" name="Text 4"/>
          <p:cNvSpPr/>
          <p:nvPr/>
        </p:nvSpPr>
        <p:spPr>
          <a:xfrm>
            <a:off x="804672" y="1984248"/>
            <a:ext cx="4846320" cy="960120"/>
          </a:xfrm>
          <a:prstGeom prst="rect">
            <a:avLst/>
          </a:prstGeom>
          <a:noFill/>
          <a:ln/>
        </p:spPr>
        <p:txBody>
          <a:bodyPr wrap="square" lIns="0" tIns="0" rIns="0" bIns="0" rtlCol="0" anchor="ctr"/>
          <a:lstStyle/>
          <a:p>
            <a:pPr marL="0" indent="0">
              <a:lnSpc>
                <a:spcPct val="115000"/>
              </a:lnSpc>
              <a:buNone/>
            </a:pPr>
            <a:r>
              <a:rPr lang="en-US" sz="1250" dirty="0">
                <a:solidFill>
                  <a:srgbClr val="EFE6DD"/>
                </a:solidFill>
                <a:latin typeface="Calibri" pitchFamily="34" charset="0"/>
                <a:ea typeface="Calibri" pitchFamily="34" charset="-122"/>
                <a:cs typeface="Calibri" pitchFamily="34" charset="-120"/>
              </a:rPr>
              <a:t>Architecture en couches strictement séparée (entités, DTO, mappers, repositories, services, contrôleurs)</a:t>
            </a:r>
            <a:endParaRPr lang="en-US" sz="1250" dirty="0"/>
          </a:p>
        </p:txBody>
      </p:sp>
      <p:sp>
        <p:nvSpPr>
          <p:cNvPr id="7" name="Shape 5"/>
          <p:cNvSpPr/>
          <p:nvPr/>
        </p:nvSpPr>
        <p:spPr>
          <a:xfrm>
            <a:off x="6172200" y="1874520"/>
            <a:ext cx="5349240" cy="1188720"/>
          </a:xfrm>
          <a:prstGeom prst="roundRect">
            <a:avLst>
              <a:gd name="adj" fmla="val 5385"/>
            </a:avLst>
          </a:prstGeom>
          <a:solidFill>
            <a:srgbClr val="4A1D1D"/>
          </a:solidFill>
          <a:ln/>
        </p:spPr>
      </p:sp>
      <p:sp>
        <p:nvSpPr>
          <p:cNvPr id="8" name="Text 6"/>
          <p:cNvSpPr/>
          <p:nvPr/>
        </p:nvSpPr>
        <p:spPr>
          <a:xfrm>
            <a:off x="6428232" y="1984248"/>
            <a:ext cx="4846320" cy="960120"/>
          </a:xfrm>
          <a:prstGeom prst="rect">
            <a:avLst/>
          </a:prstGeom>
          <a:noFill/>
          <a:ln/>
        </p:spPr>
        <p:txBody>
          <a:bodyPr wrap="square" lIns="0" tIns="0" rIns="0" bIns="0" rtlCol="0" anchor="ctr"/>
          <a:lstStyle/>
          <a:p>
            <a:pPr marL="0" indent="0">
              <a:lnSpc>
                <a:spcPct val="115000"/>
              </a:lnSpc>
              <a:buNone/>
            </a:pPr>
            <a:r>
              <a:rPr lang="en-US" sz="1250" dirty="0">
                <a:solidFill>
                  <a:srgbClr val="EFE6DD"/>
                </a:solidFill>
                <a:latin typeface="Calibri" pitchFamily="34" charset="0"/>
                <a:ea typeface="Calibri" pitchFamily="34" charset="-122"/>
                <a:cs typeface="Calibri" pitchFamily="34" charset="-120"/>
              </a:rPr>
              <a:t>Contrôle d'accès défensif à trois niveaux (URL, méthode, objet)</a:t>
            </a:r>
            <a:endParaRPr lang="en-US" sz="1250" dirty="0"/>
          </a:p>
        </p:txBody>
      </p:sp>
      <p:sp>
        <p:nvSpPr>
          <p:cNvPr id="9" name="Shape 7"/>
          <p:cNvSpPr/>
          <p:nvPr/>
        </p:nvSpPr>
        <p:spPr>
          <a:xfrm>
            <a:off x="548640" y="3291840"/>
            <a:ext cx="5349240" cy="1188720"/>
          </a:xfrm>
          <a:prstGeom prst="roundRect">
            <a:avLst>
              <a:gd name="adj" fmla="val 5385"/>
            </a:avLst>
          </a:prstGeom>
          <a:solidFill>
            <a:srgbClr val="4A1D1D"/>
          </a:solidFill>
          <a:ln/>
        </p:spPr>
      </p:sp>
      <p:sp>
        <p:nvSpPr>
          <p:cNvPr id="10" name="Text 8"/>
          <p:cNvSpPr/>
          <p:nvPr/>
        </p:nvSpPr>
        <p:spPr>
          <a:xfrm>
            <a:off x="804672" y="3401568"/>
            <a:ext cx="4846320" cy="960120"/>
          </a:xfrm>
          <a:prstGeom prst="rect">
            <a:avLst/>
          </a:prstGeom>
          <a:noFill/>
          <a:ln/>
        </p:spPr>
        <p:txBody>
          <a:bodyPr wrap="square" lIns="0" tIns="0" rIns="0" bIns="0" rtlCol="0" anchor="ctr"/>
          <a:lstStyle/>
          <a:p>
            <a:pPr marL="0" indent="0">
              <a:lnSpc>
                <a:spcPct val="115000"/>
              </a:lnSpc>
              <a:buNone/>
            </a:pPr>
            <a:r>
              <a:rPr lang="en-US" sz="1250" dirty="0">
                <a:solidFill>
                  <a:srgbClr val="EFE6DD"/>
                </a:solidFill>
                <a:latin typeface="Calibri" pitchFamily="34" charset="0"/>
                <a:ea typeface="Calibri" pitchFamily="34" charset="-122"/>
                <a:cs typeface="Calibri" pitchFamily="34" charset="-120"/>
              </a:rPr>
              <a:t>Validation personnalisée (@UniqueEmail, @PasswordMatches) en plus des contraintes standards</a:t>
            </a:r>
            <a:endParaRPr lang="en-US" sz="1250" dirty="0"/>
          </a:p>
        </p:txBody>
      </p:sp>
      <p:sp>
        <p:nvSpPr>
          <p:cNvPr id="11" name="Shape 9"/>
          <p:cNvSpPr/>
          <p:nvPr/>
        </p:nvSpPr>
        <p:spPr>
          <a:xfrm>
            <a:off x="6172200" y="3291840"/>
            <a:ext cx="5349240" cy="1188720"/>
          </a:xfrm>
          <a:prstGeom prst="roundRect">
            <a:avLst>
              <a:gd name="adj" fmla="val 5385"/>
            </a:avLst>
          </a:prstGeom>
          <a:solidFill>
            <a:srgbClr val="4A1D1D"/>
          </a:solidFill>
          <a:ln/>
        </p:spPr>
      </p:sp>
      <p:sp>
        <p:nvSpPr>
          <p:cNvPr id="12" name="Text 10"/>
          <p:cNvSpPr/>
          <p:nvPr/>
        </p:nvSpPr>
        <p:spPr>
          <a:xfrm>
            <a:off x="6428232" y="3401568"/>
            <a:ext cx="4846320" cy="960120"/>
          </a:xfrm>
          <a:prstGeom prst="rect">
            <a:avLst/>
          </a:prstGeom>
          <a:noFill/>
          <a:ln/>
        </p:spPr>
        <p:txBody>
          <a:bodyPr wrap="square" lIns="0" tIns="0" rIns="0" bIns="0" rtlCol="0" anchor="ctr"/>
          <a:lstStyle/>
          <a:p>
            <a:pPr marL="0" indent="0">
              <a:lnSpc>
                <a:spcPct val="115000"/>
              </a:lnSpc>
              <a:buNone/>
            </a:pPr>
            <a:r>
              <a:rPr lang="en-US" sz="1250" dirty="0">
                <a:solidFill>
                  <a:srgbClr val="EFE6DD"/>
                </a:solidFill>
                <a:latin typeface="Calibri" pitchFamily="34" charset="0"/>
                <a:ea typeface="Calibri" pitchFamily="34" charset="-122"/>
                <a:cs typeface="Calibri" pitchFamily="34" charset="-120"/>
              </a:rPr>
              <a:t>Gestion centralisée des exceptions avec pages d'erreur dédiées</a:t>
            </a:r>
            <a:endParaRPr lang="en-US" sz="1250" dirty="0"/>
          </a:p>
        </p:txBody>
      </p:sp>
      <p:sp>
        <p:nvSpPr>
          <p:cNvPr id="13" name="Shape 11"/>
          <p:cNvSpPr/>
          <p:nvPr/>
        </p:nvSpPr>
        <p:spPr>
          <a:xfrm>
            <a:off x="548640" y="4709160"/>
            <a:ext cx="5349240" cy="1188720"/>
          </a:xfrm>
          <a:prstGeom prst="roundRect">
            <a:avLst>
              <a:gd name="adj" fmla="val 5385"/>
            </a:avLst>
          </a:prstGeom>
          <a:solidFill>
            <a:srgbClr val="4A1D1D"/>
          </a:solidFill>
          <a:ln/>
        </p:spPr>
      </p:sp>
      <p:sp>
        <p:nvSpPr>
          <p:cNvPr id="14" name="Text 12"/>
          <p:cNvSpPr/>
          <p:nvPr/>
        </p:nvSpPr>
        <p:spPr>
          <a:xfrm>
            <a:off x="804672" y="4818888"/>
            <a:ext cx="4846320" cy="960120"/>
          </a:xfrm>
          <a:prstGeom prst="rect">
            <a:avLst/>
          </a:prstGeom>
          <a:noFill/>
          <a:ln/>
        </p:spPr>
        <p:txBody>
          <a:bodyPr wrap="square" lIns="0" tIns="0" rIns="0" bIns="0" rtlCol="0" anchor="ctr"/>
          <a:lstStyle/>
          <a:p>
            <a:pPr marL="0" indent="0">
              <a:lnSpc>
                <a:spcPct val="115000"/>
              </a:lnSpc>
              <a:buNone/>
            </a:pPr>
            <a:r>
              <a:rPr lang="en-US" sz="1250" dirty="0">
                <a:solidFill>
                  <a:srgbClr val="EFE6DD"/>
                </a:solidFill>
                <a:latin typeface="Calibri" pitchFamily="34" charset="0"/>
                <a:ea typeface="Calibri" pitchFamily="34" charset="-122"/>
                <a:cs typeface="Calibri" pitchFamily="34" charset="-120"/>
              </a:rPr>
              <a:t>Notifications automatiques à chaque changement de statut</a:t>
            </a:r>
            <a:endParaRPr lang="en-US" sz="1250" dirty="0"/>
          </a:p>
        </p:txBody>
      </p:sp>
      <p:sp>
        <p:nvSpPr>
          <p:cNvPr id="15" name="Shape 13"/>
          <p:cNvSpPr/>
          <p:nvPr/>
        </p:nvSpPr>
        <p:spPr>
          <a:xfrm>
            <a:off x="6172200" y="4709160"/>
            <a:ext cx="5349240" cy="1188720"/>
          </a:xfrm>
          <a:prstGeom prst="roundRect">
            <a:avLst>
              <a:gd name="adj" fmla="val 5385"/>
            </a:avLst>
          </a:prstGeom>
          <a:solidFill>
            <a:srgbClr val="4A1D1D"/>
          </a:solidFill>
          <a:ln/>
        </p:spPr>
      </p:sp>
      <p:sp>
        <p:nvSpPr>
          <p:cNvPr id="16" name="Text 14"/>
          <p:cNvSpPr/>
          <p:nvPr/>
        </p:nvSpPr>
        <p:spPr>
          <a:xfrm>
            <a:off x="6428232" y="4818888"/>
            <a:ext cx="4846320" cy="960120"/>
          </a:xfrm>
          <a:prstGeom prst="rect">
            <a:avLst/>
          </a:prstGeom>
          <a:noFill/>
          <a:ln/>
        </p:spPr>
        <p:txBody>
          <a:bodyPr wrap="square" lIns="0" tIns="0" rIns="0" bIns="0" rtlCol="0" anchor="ctr"/>
          <a:lstStyle/>
          <a:p>
            <a:pPr marL="0" indent="0">
              <a:lnSpc>
                <a:spcPct val="115000"/>
              </a:lnSpc>
              <a:buNone/>
            </a:pPr>
            <a:r>
              <a:rPr lang="en-US" sz="1250" dirty="0">
                <a:solidFill>
                  <a:srgbClr val="EFE6DD"/>
                </a:solidFill>
                <a:latin typeface="Calibri" pitchFamily="34" charset="0"/>
                <a:ea typeface="Calibri" pitchFamily="34" charset="-122"/>
                <a:cs typeface="Calibri" pitchFamily="34" charset="-120"/>
              </a:rPr>
              <a:t>Jeu de données de démonstration prêt à l'emploi au premier démarrage</a:t>
            </a:r>
            <a:endParaRPr lang="en-US" sz="1250" dirty="0"/>
          </a:p>
        </p:txBody>
      </p:sp>
      <p:sp>
        <p:nvSpPr>
          <p:cNvPr id="17" name="Text 15"/>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CitizenConnect</a:t>
            </a:r>
            <a:endParaRPr lang="en-US" sz="900" dirty="0"/>
          </a:p>
        </p:txBody>
      </p:sp>
      <p:sp>
        <p:nvSpPr>
          <p:cNvPr id="18" name="Text 1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D1717"/>
        </a:solidFill>
        <a:effectLst/>
      </p:bgPr>
    </p:bg>
    <p:spTree>
      <p:nvGrpSpPr>
        <p:cNvPr id="1" name=""/>
        <p:cNvGrpSpPr/>
        <p:nvPr/>
      </p:nvGrpSpPr>
      <p:grpSpPr>
        <a:xfrm>
          <a:off x="0" y="0"/>
          <a:ext cx="0" cy="0"/>
          <a:chOff x="0" y="0"/>
          <a:chExt cx="0" cy="0"/>
        </a:xfrm>
      </p:grpSpPr>
      <p:sp>
        <p:nvSpPr>
          <p:cNvPr id="2" name="Shape 0"/>
          <p:cNvSpPr/>
          <p:nvPr/>
        </p:nvSpPr>
        <p:spPr>
          <a:xfrm>
            <a:off x="-2286000" y="3474720"/>
            <a:ext cx="5486400" cy="5486400"/>
          </a:xfrm>
          <a:prstGeom prst="ellipse">
            <a:avLst/>
          </a:prstGeom>
          <a:solidFill>
            <a:srgbClr val="6E2C2C"/>
          </a:solidFill>
          <a:ln/>
        </p:spPr>
      </p:sp>
      <p:sp>
        <p:nvSpPr>
          <p:cNvPr id="3" name="Text 1"/>
          <p:cNvSpPr/>
          <p:nvPr/>
        </p:nvSpPr>
        <p:spPr>
          <a:xfrm>
            <a:off x="822960" y="2331720"/>
            <a:ext cx="2743200" cy="1280160"/>
          </a:xfrm>
          <a:prstGeom prst="rect">
            <a:avLst/>
          </a:prstGeom>
          <a:noFill/>
          <a:ln/>
        </p:spPr>
        <p:txBody>
          <a:bodyPr wrap="square" lIns="0" tIns="0" rIns="0" bIns="0" rtlCol="0" anchor="ctr"/>
          <a:lstStyle/>
          <a:p>
            <a:pPr marL="0" indent="0">
              <a:buNone/>
            </a:pPr>
            <a:r>
              <a:rPr lang="en-US" sz="7200" b="1" dirty="0">
                <a:solidFill>
                  <a:srgbClr val="5C2A2A"/>
                </a:solidFill>
                <a:latin typeface="Cambria" pitchFamily="34" charset="0"/>
                <a:ea typeface="Cambria" pitchFamily="34" charset="-122"/>
                <a:cs typeface="Cambria" pitchFamily="34" charset="-120"/>
              </a:rPr>
              <a:t>05</a:t>
            </a:r>
            <a:endParaRPr lang="en-US" sz="7200" dirty="0"/>
          </a:p>
        </p:txBody>
      </p:sp>
      <p:sp>
        <p:nvSpPr>
          <p:cNvPr id="4" name="Text 2"/>
          <p:cNvSpPr/>
          <p:nvPr/>
        </p:nvSpPr>
        <p:spPr>
          <a:xfrm>
            <a:off x="868680" y="3246120"/>
            <a:ext cx="9601200" cy="91440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Démonstration</a:t>
            </a:r>
            <a:endParaRPr lang="en-US" sz="4200" dirty="0"/>
          </a:p>
        </p:txBody>
      </p:sp>
      <p:sp>
        <p:nvSpPr>
          <p:cNvPr id="5" name="Text 3"/>
          <p:cNvSpPr/>
          <p:nvPr/>
        </p:nvSpPr>
        <p:spPr>
          <a:xfrm>
            <a:off x="914400" y="4069080"/>
            <a:ext cx="8686800" cy="548640"/>
          </a:xfrm>
          <a:prstGeom prst="rect">
            <a:avLst/>
          </a:prstGeom>
          <a:noFill/>
          <a:ln/>
        </p:spPr>
        <p:txBody>
          <a:bodyPr wrap="square" lIns="0" tIns="0" rIns="0" bIns="0" rtlCol="0" anchor="ctr"/>
          <a:lstStyle/>
          <a:p>
            <a:pPr marL="0" indent="0">
              <a:buNone/>
            </a:pPr>
            <a:r>
              <a:rPr lang="en-US" sz="1600" i="1" dirty="0">
                <a:solidFill>
                  <a:srgbClr val="EFE6DD"/>
                </a:solidFill>
                <a:latin typeface="Calibri" pitchFamily="34" charset="0"/>
                <a:ea typeface="Calibri" pitchFamily="34" charset="-122"/>
                <a:cs typeface="Calibri" pitchFamily="34" charset="-120"/>
              </a:rPr>
              <a:t>Aperçu des principaux écrans de la plateforme</a:t>
            </a:r>
            <a:endParaRPr lang="en-US" sz="1600" dirty="0"/>
          </a:p>
        </p:txBody>
      </p:sp>
      <p:sp>
        <p:nvSpPr>
          <p:cNvPr id="6"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CitizenConnect</a:t>
            </a:r>
            <a:endParaRPr lang="en-US" sz="900" dirty="0"/>
          </a:p>
        </p:txBody>
      </p:sp>
      <p:sp>
        <p:nvSpPr>
          <p:cNvPr id="7" name="Text 5"/>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B8863F"/>
                </a:solidFill>
                <a:latin typeface="Calibri" pitchFamily="34" charset="0"/>
                <a:ea typeface="Calibri" pitchFamily="34" charset="-122"/>
                <a:cs typeface="Calibri" pitchFamily="34" charset="-120"/>
              </a:rPr>
              <a:t>DÉMONSTRATION</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marL="0" indent="0">
              <a:buNone/>
            </a:pPr>
            <a:r>
              <a:rPr lang="en-US" sz="3000" b="1" dirty="0">
                <a:solidFill>
                  <a:srgbClr val="6E2C2C"/>
                </a:solidFill>
                <a:latin typeface="Cambria" pitchFamily="34" charset="0"/>
                <a:ea typeface="Cambria" pitchFamily="34" charset="-122"/>
                <a:cs typeface="Cambria" pitchFamily="34" charset="-120"/>
              </a:rPr>
              <a:t>Authentification</a:t>
            </a:r>
            <a:endParaRPr lang="en-US" sz="3000" dirty="0"/>
          </a:p>
        </p:txBody>
      </p:sp>
      <p:sp>
        <p:nvSpPr>
          <p:cNvPr id="4" name="Shape 2"/>
          <p:cNvSpPr/>
          <p:nvPr/>
        </p:nvSpPr>
        <p:spPr>
          <a:xfrm>
            <a:off x="548640" y="1600200"/>
            <a:ext cx="5349240" cy="4526280"/>
          </a:xfrm>
          <a:prstGeom prst="roundRect">
            <a:avLst>
              <a:gd name="adj" fmla="val 1010"/>
            </a:avLst>
          </a:prstGeom>
          <a:solidFill>
            <a:srgbClr val="FAF9F7"/>
          </a:solidFill>
          <a:ln w="19050">
            <a:solidFill>
              <a:srgbClr val="E3DDD3"/>
            </a:solidFill>
            <a:prstDash val="dash"/>
          </a:ln>
        </p:spPr>
      </p:sp>
      <p:sp>
        <p:nvSpPr>
          <p:cNvPr id="5" name="Text 3"/>
          <p:cNvSpPr/>
          <p:nvPr/>
        </p:nvSpPr>
        <p:spPr>
          <a:xfrm>
            <a:off x="822960" y="3360420"/>
            <a:ext cx="4800600" cy="365760"/>
          </a:xfrm>
          <a:prstGeom prst="rect">
            <a:avLst/>
          </a:prstGeom>
          <a:noFill/>
          <a:ln/>
        </p:spPr>
        <p:txBody>
          <a:bodyPr wrap="square" lIns="0" tIns="0" rIns="0" bIns="0" rtlCol="0" anchor="ctr"/>
          <a:lstStyle/>
          <a:p>
            <a:pPr marL="0" indent="0" algn="ctr">
              <a:buNone/>
            </a:pPr>
            <a:r>
              <a:rPr lang="en-US" sz="1300" i="1" dirty="0">
                <a:solidFill>
                  <a:srgbClr val="9B9086"/>
                </a:solidFill>
                <a:latin typeface="Calibri" pitchFamily="34" charset="0"/>
                <a:ea typeface="Calibri" pitchFamily="34" charset="-122"/>
                <a:cs typeface="Calibri" pitchFamily="34" charset="-120"/>
              </a:rPr>
              <a:t>Capture d'écran à insérer ici</a:t>
            </a:r>
            <a:endParaRPr lang="en-US" sz="1300" dirty="0"/>
          </a:p>
        </p:txBody>
      </p:sp>
      <p:sp>
        <p:nvSpPr>
          <p:cNvPr id="6" name="Text 4"/>
          <p:cNvSpPr/>
          <p:nvPr/>
        </p:nvSpPr>
        <p:spPr>
          <a:xfrm>
            <a:off x="822960" y="3817620"/>
            <a:ext cx="4800600" cy="411480"/>
          </a:xfrm>
          <a:prstGeom prst="rect">
            <a:avLst/>
          </a:prstGeom>
          <a:noFill/>
          <a:ln/>
        </p:spPr>
        <p:txBody>
          <a:bodyPr wrap="square" lIns="0" tIns="0" rIns="0" bIns="0" rtlCol="0" anchor="ctr"/>
          <a:lstStyle/>
          <a:p>
            <a:pPr marL="0" indent="0" algn="ctr">
              <a:buNone/>
            </a:pPr>
            <a:r>
              <a:rPr lang="en-US" sz="1450" b="1" dirty="0">
                <a:solidFill>
                  <a:srgbClr val="333333"/>
                </a:solidFill>
                <a:latin typeface="Cambria" pitchFamily="34" charset="0"/>
                <a:ea typeface="Cambria" pitchFamily="34" charset="-122"/>
                <a:cs typeface="Cambria" pitchFamily="34" charset="-120"/>
              </a:rPr>
              <a:t>Page de connexion</a:t>
            </a:r>
            <a:endParaRPr lang="en-US" sz="1450" dirty="0"/>
          </a:p>
        </p:txBody>
      </p:sp>
      <p:sp>
        <p:nvSpPr>
          <p:cNvPr id="7" name="Shape 5"/>
          <p:cNvSpPr/>
          <p:nvPr/>
        </p:nvSpPr>
        <p:spPr>
          <a:xfrm>
            <a:off x="548640" y="1600200"/>
            <a:ext cx="201168" cy="0"/>
          </a:xfrm>
          <a:prstGeom prst="line">
            <a:avLst/>
          </a:prstGeom>
          <a:noFill/>
          <a:ln w="25400">
            <a:solidFill>
              <a:srgbClr val="E3DDD3"/>
            </a:solidFill>
            <a:prstDash val="solid"/>
          </a:ln>
        </p:spPr>
      </p:sp>
      <p:sp>
        <p:nvSpPr>
          <p:cNvPr id="8" name="Shape 6"/>
          <p:cNvSpPr/>
          <p:nvPr/>
        </p:nvSpPr>
        <p:spPr>
          <a:xfrm>
            <a:off x="5696712" y="1600200"/>
            <a:ext cx="201168" cy="0"/>
          </a:xfrm>
          <a:prstGeom prst="line">
            <a:avLst/>
          </a:prstGeom>
          <a:noFill/>
          <a:ln w="25400">
            <a:solidFill>
              <a:srgbClr val="E3DDD3"/>
            </a:solidFill>
            <a:prstDash val="solid"/>
          </a:ln>
        </p:spPr>
      </p:sp>
      <p:sp>
        <p:nvSpPr>
          <p:cNvPr id="9" name="Shape 7"/>
          <p:cNvSpPr/>
          <p:nvPr/>
        </p:nvSpPr>
        <p:spPr>
          <a:xfrm>
            <a:off x="548640" y="5925312"/>
            <a:ext cx="201168" cy="0"/>
          </a:xfrm>
          <a:prstGeom prst="line">
            <a:avLst/>
          </a:prstGeom>
          <a:noFill/>
          <a:ln w="25400">
            <a:solidFill>
              <a:srgbClr val="E3DDD3"/>
            </a:solidFill>
            <a:prstDash val="solid"/>
          </a:ln>
        </p:spPr>
      </p:sp>
      <p:sp>
        <p:nvSpPr>
          <p:cNvPr id="10" name="Shape 8"/>
          <p:cNvSpPr/>
          <p:nvPr/>
        </p:nvSpPr>
        <p:spPr>
          <a:xfrm>
            <a:off x="5696712" y="5925312"/>
            <a:ext cx="201168" cy="0"/>
          </a:xfrm>
          <a:prstGeom prst="line">
            <a:avLst/>
          </a:prstGeom>
          <a:noFill/>
          <a:ln w="25400">
            <a:solidFill>
              <a:srgbClr val="E3DDD3"/>
            </a:solidFill>
            <a:prstDash val="solid"/>
          </a:ln>
        </p:spPr>
      </p:sp>
      <p:sp>
        <p:nvSpPr>
          <p:cNvPr id="11" name="Shape 9"/>
          <p:cNvSpPr/>
          <p:nvPr/>
        </p:nvSpPr>
        <p:spPr>
          <a:xfrm>
            <a:off x="6172200" y="1600200"/>
            <a:ext cx="5349240" cy="4526280"/>
          </a:xfrm>
          <a:prstGeom prst="roundRect">
            <a:avLst>
              <a:gd name="adj" fmla="val 1010"/>
            </a:avLst>
          </a:prstGeom>
          <a:solidFill>
            <a:srgbClr val="FAF9F7"/>
          </a:solidFill>
          <a:ln w="19050">
            <a:solidFill>
              <a:srgbClr val="E3DDD3"/>
            </a:solidFill>
            <a:prstDash val="dash"/>
          </a:ln>
        </p:spPr>
      </p:sp>
      <p:sp>
        <p:nvSpPr>
          <p:cNvPr id="12" name="Text 10"/>
          <p:cNvSpPr/>
          <p:nvPr/>
        </p:nvSpPr>
        <p:spPr>
          <a:xfrm>
            <a:off x="6446520" y="3360420"/>
            <a:ext cx="4800600" cy="365760"/>
          </a:xfrm>
          <a:prstGeom prst="rect">
            <a:avLst/>
          </a:prstGeom>
          <a:noFill/>
          <a:ln/>
        </p:spPr>
        <p:txBody>
          <a:bodyPr wrap="square" lIns="0" tIns="0" rIns="0" bIns="0" rtlCol="0" anchor="ctr"/>
          <a:lstStyle/>
          <a:p>
            <a:pPr marL="0" indent="0" algn="ctr">
              <a:buNone/>
            </a:pPr>
            <a:r>
              <a:rPr lang="en-US" sz="1300" i="1" dirty="0">
                <a:solidFill>
                  <a:srgbClr val="9B9086"/>
                </a:solidFill>
                <a:latin typeface="Calibri" pitchFamily="34" charset="0"/>
                <a:ea typeface="Calibri" pitchFamily="34" charset="-122"/>
                <a:cs typeface="Calibri" pitchFamily="34" charset="-120"/>
              </a:rPr>
              <a:t>Capture d'écran à insérer ici</a:t>
            </a:r>
            <a:endParaRPr lang="en-US" sz="1300" dirty="0"/>
          </a:p>
        </p:txBody>
      </p:sp>
      <p:sp>
        <p:nvSpPr>
          <p:cNvPr id="13" name="Text 11"/>
          <p:cNvSpPr/>
          <p:nvPr/>
        </p:nvSpPr>
        <p:spPr>
          <a:xfrm>
            <a:off x="6446520" y="3817620"/>
            <a:ext cx="4800600" cy="411480"/>
          </a:xfrm>
          <a:prstGeom prst="rect">
            <a:avLst/>
          </a:prstGeom>
          <a:noFill/>
          <a:ln/>
        </p:spPr>
        <p:txBody>
          <a:bodyPr wrap="square" lIns="0" tIns="0" rIns="0" bIns="0" rtlCol="0" anchor="ctr"/>
          <a:lstStyle/>
          <a:p>
            <a:pPr marL="0" indent="0" algn="ctr">
              <a:buNone/>
            </a:pPr>
            <a:r>
              <a:rPr lang="en-US" sz="1450" b="1" dirty="0">
                <a:solidFill>
                  <a:srgbClr val="333333"/>
                </a:solidFill>
                <a:latin typeface="Cambria" pitchFamily="34" charset="0"/>
                <a:ea typeface="Cambria" pitchFamily="34" charset="-122"/>
                <a:cs typeface="Cambria" pitchFamily="34" charset="-120"/>
              </a:rPr>
              <a:t>Page d'inscription</a:t>
            </a:r>
            <a:endParaRPr lang="en-US" sz="1450" dirty="0"/>
          </a:p>
        </p:txBody>
      </p:sp>
      <p:sp>
        <p:nvSpPr>
          <p:cNvPr id="14" name="Shape 12"/>
          <p:cNvSpPr/>
          <p:nvPr/>
        </p:nvSpPr>
        <p:spPr>
          <a:xfrm>
            <a:off x="6172200" y="1600200"/>
            <a:ext cx="201168" cy="0"/>
          </a:xfrm>
          <a:prstGeom prst="line">
            <a:avLst/>
          </a:prstGeom>
          <a:noFill/>
          <a:ln w="25400">
            <a:solidFill>
              <a:srgbClr val="E3DDD3"/>
            </a:solidFill>
            <a:prstDash val="solid"/>
          </a:ln>
        </p:spPr>
      </p:sp>
      <p:sp>
        <p:nvSpPr>
          <p:cNvPr id="15" name="Shape 13"/>
          <p:cNvSpPr/>
          <p:nvPr/>
        </p:nvSpPr>
        <p:spPr>
          <a:xfrm>
            <a:off x="11320272" y="1600200"/>
            <a:ext cx="201168" cy="0"/>
          </a:xfrm>
          <a:prstGeom prst="line">
            <a:avLst/>
          </a:prstGeom>
          <a:noFill/>
          <a:ln w="25400">
            <a:solidFill>
              <a:srgbClr val="E3DDD3"/>
            </a:solidFill>
            <a:prstDash val="solid"/>
          </a:ln>
        </p:spPr>
      </p:sp>
      <p:sp>
        <p:nvSpPr>
          <p:cNvPr id="16" name="Shape 14"/>
          <p:cNvSpPr/>
          <p:nvPr/>
        </p:nvSpPr>
        <p:spPr>
          <a:xfrm>
            <a:off x="6172200" y="5925312"/>
            <a:ext cx="201168" cy="0"/>
          </a:xfrm>
          <a:prstGeom prst="line">
            <a:avLst/>
          </a:prstGeom>
          <a:noFill/>
          <a:ln w="25400">
            <a:solidFill>
              <a:srgbClr val="E3DDD3"/>
            </a:solidFill>
            <a:prstDash val="solid"/>
          </a:ln>
        </p:spPr>
      </p:sp>
      <p:sp>
        <p:nvSpPr>
          <p:cNvPr id="17" name="Shape 15"/>
          <p:cNvSpPr/>
          <p:nvPr/>
        </p:nvSpPr>
        <p:spPr>
          <a:xfrm>
            <a:off x="11320272" y="5925312"/>
            <a:ext cx="201168" cy="0"/>
          </a:xfrm>
          <a:prstGeom prst="line">
            <a:avLst/>
          </a:prstGeom>
          <a:noFill/>
          <a:ln w="25400">
            <a:solidFill>
              <a:srgbClr val="E3DDD3"/>
            </a:solidFill>
            <a:prstDash val="solid"/>
          </a:ln>
        </p:spPr>
      </p:sp>
      <p:sp>
        <p:nvSpPr>
          <p:cNvPr id="18" name="Text 16"/>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CitizenConnect</a:t>
            </a:r>
            <a:endParaRPr lang="en-US" sz="900" dirty="0"/>
          </a:p>
        </p:txBody>
      </p:sp>
      <p:sp>
        <p:nvSpPr>
          <p:cNvPr id="19" name="Text 1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B8863F"/>
                </a:solidFill>
                <a:latin typeface="Calibri" pitchFamily="34" charset="0"/>
                <a:ea typeface="Calibri" pitchFamily="34" charset="-122"/>
                <a:cs typeface="Calibri" pitchFamily="34" charset="-120"/>
              </a:rPr>
              <a:t>DÉMONSTRATION</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marL="0" indent="0">
              <a:buNone/>
            </a:pPr>
            <a:r>
              <a:rPr lang="en-US" sz="3000" b="1" dirty="0">
                <a:solidFill>
                  <a:srgbClr val="6E2C2C"/>
                </a:solidFill>
                <a:latin typeface="Cambria" pitchFamily="34" charset="0"/>
                <a:ea typeface="Cambria" pitchFamily="34" charset="-122"/>
                <a:cs typeface="Cambria" pitchFamily="34" charset="-120"/>
              </a:rPr>
              <a:t>Espace Citoyen</a:t>
            </a:r>
            <a:endParaRPr lang="en-US" sz="3000" dirty="0"/>
          </a:p>
        </p:txBody>
      </p:sp>
      <p:sp>
        <p:nvSpPr>
          <p:cNvPr id="4" name="Shape 2"/>
          <p:cNvSpPr/>
          <p:nvPr/>
        </p:nvSpPr>
        <p:spPr>
          <a:xfrm>
            <a:off x="548640" y="1600200"/>
            <a:ext cx="5349240" cy="4526280"/>
          </a:xfrm>
          <a:prstGeom prst="roundRect">
            <a:avLst>
              <a:gd name="adj" fmla="val 1010"/>
            </a:avLst>
          </a:prstGeom>
          <a:solidFill>
            <a:srgbClr val="FAF9F7"/>
          </a:solidFill>
          <a:ln w="19050">
            <a:solidFill>
              <a:srgbClr val="E3DDD3"/>
            </a:solidFill>
            <a:prstDash val="dash"/>
          </a:ln>
        </p:spPr>
      </p:sp>
      <p:sp>
        <p:nvSpPr>
          <p:cNvPr id="5" name="Text 3"/>
          <p:cNvSpPr/>
          <p:nvPr/>
        </p:nvSpPr>
        <p:spPr>
          <a:xfrm>
            <a:off x="822960" y="3360420"/>
            <a:ext cx="4800600" cy="365760"/>
          </a:xfrm>
          <a:prstGeom prst="rect">
            <a:avLst/>
          </a:prstGeom>
          <a:noFill/>
          <a:ln/>
        </p:spPr>
        <p:txBody>
          <a:bodyPr wrap="square" lIns="0" tIns="0" rIns="0" bIns="0" rtlCol="0" anchor="ctr"/>
          <a:lstStyle/>
          <a:p>
            <a:pPr marL="0" indent="0" algn="ctr">
              <a:buNone/>
            </a:pPr>
            <a:r>
              <a:rPr lang="en-US" sz="1300" i="1" dirty="0">
                <a:solidFill>
                  <a:srgbClr val="9B9086"/>
                </a:solidFill>
                <a:latin typeface="Calibri" pitchFamily="34" charset="0"/>
                <a:ea typeface="Calibri" pitchFamily="34" charset="-122"/>
                <a:cs typeface="Calibri" pitchFamily="34" charset="-120"/>
              </a:rPr>
              <a:t>Capture d'écran à insérer ici</a:t>
            </a:r>
            <a:endParaRPr lang="en-US" sz="1300" dirty="0"/>
          </a:p>
        </p:txBody>
      </p:sp>
      <p:sp>
        <p:nvSpPr>
          <p:cNvPr id="6" name="Text 4"/>
          <p:cNvSpPr/>
          <p:nvPr/>
        </p:nvSpPr>
        <p:spPr>
          <a:xfrm>
            <a:off x="822960" y="3817620"/>
            <a:ext cx="4800600" cy="411480"/>
          </a:xfrm>
          <a:prstGeom prst="rect">
            <a:avLst/>
          </a:prstGeom>
          <a:noFill/>
          <a:ln/>
        </p:spPr>
        <p:txBody>
          <a:bodyPr wrap="square" lIns="0" tIns="0" rIns="0" bIns="0" rtlCol="0" anchor="ctr"/>
          <a:lstStyle/>
          <a:p>
            <a:pPr marL="0" indent="0" algn="ctr">
              <a:buNone/>
            </a:pPr>
            <a:r>
              <a:rPr lang="en-US" sz="1450" b="1" dirty="0">
                <a:solidFill>
                  <a:srgbClr val="333333"/>
                </a:solidFill>
                <a:latin typeface="Cambria" pitchFamily="34" charset="0"/>
                <a:ea typeface="Cambria" pitchFamily="34" charset="-122"/>
                <a:cs typeface="Cambria" pitchFamily="34" charset="-120"/>
              </a:rPr>
              <a:t>Tableau de bord — Citoyen</a:t>
            </a:r>
            <a:endParaRPr lang="en-US" sz="1450" dirty="0"/>
          </a:p>
        </p:txBody>
      </p:sp>
      <p:sp>
        <p:nvSpPr>
          <p:cNvPr id="7" name="Shape 5"/>
          <p:cNvSpPr/>
          <p:nvPr/>
        </p:nvSpPr>
        <p:spPr>
          <a:xfrm>
            <a:off x="548640" y="1600200"/>
            <a:ext cx="201168" cy="0"/>
          </a:xfrm>
          <a:prstGeom prst="line">
            <a:avLst/>
          </a:prstGeom>
          <a:noFill/>
          <a:ln w="25400">
            <a:solidFill>
              <a:srgbClr val="E3DDD3"/>
            </a:solidFill>
            <a:prstDash val="solid"/>
          </a:ln>
        </p:spPr>
      </p:sp>
      <p:sp>
        <p:nvSpPr>
          <p:cNvPr id="8" name="Shape 6"/>
          <p:cNvSpPr/>
          <p:nvPr/>
        </p:nvSpPr>
        <p:spPr>
          <a:xfrm>
            <a:off x="5696712" y="1600200"/>
            <a:ext cx="201168" cy="0"/>
          </a:xfrm>
          <a:prstGeom prst="line">
            <a:avLst/>
          </a:prstGeom>
          <a:noFill/>
          <a:ln w="25400">
            <a:solidFill>
              <a:srgbClr val="E3DDD3"/>
            </a:solidFill>
            <a:prstDash val="solid"/>
          </a:ln>
        </p:spPr>
      </p:sp>
      <p:sp>
        <p:nvSpPr>
          <p:cNvPr id="9" name="Shape 7"/>
          <p:cNvSpPr/>
          <p:nvPr/>
        </p:nvSpPr>
        <p:spPr>
          <a:xfrm>
            <a:off x="548640" y="5925312"/>
            <a:ext cx="201168" cy="0"/>
          </a:xfrm>
          <a:prstGeom prst="line">
            <a:avLst/>
          </a:prstGeom>
          <a:noFill/>
          <a:ln w="25400">
            <a:solidFill>
              <a:srgbClr val="E3DDD3"/>
            </a:solidFill>
            <a:prstDash val="solid"/>
          </a:ln>
        </p:spPr>
      </p:sp>
      <p:sp>
        <p:nvSpPr>
          <p:cNvPr id="10" name="Shape 8"/>
          <p:cNvSpPr/>
          <p:nvPr/>
        </p:nvSpPr>
        <p:spPr>
          <a:xfrm>
            <a:off x="5696712" y="5925312"/>
            <a:ext cx="201168" cy="0"/>
          </a:xfrm>
          <a:prstGeom prst="line">
            <a:avLst/>
          </a:prstGeom>
          <a:noFill/>
          <a:ln w="25400">
            <a:solidFill>
              <a:srgbClr val="E3DDD3"/>
            </a:solidFill>
            <a:prstDash val="solid"/>
          </a:ln>
        </p:spPr>
      </p:sp>
      <p:sp>
        <p:nvSpPr>
          <p:cNvPr id="11" name="Shape 9"/>
          <p:cNvSpPr/>
          <p:nvPr/>
        </p:nvSpPr>
        <p:spPr>
          <a:xfrm>
            <a:off x="6172200" y="1600200"/>
            <a:ext cx="5349240" cy="4526280"/>
          </a:xfrm>
          <a:prstGeom prst="roundRect">
            <a:avLst>
              <a:gd name="adj" fmla="val 1010"/>
            </a:avLst>
          </a:prstGeom>
          <a:solidFill>
            <a:srgbClr val="FAF9F7"/>
          </a:solidFill>
          <a:ln w="19050">
            <a:solidFill>
              <a:srgbClr val="E3DDD3"/>
            </a:solidFill>
            <a:prstDash val="dash"/>
          </a:ln>
        </p:spPr>
      </p:sp>
      <p:sp>
        <p:nvSpPr>
          <p:cNvPr id="12" name="Text 10"/>
          <p:cNvSpPr/>
          <p:nvPr/>
        </p:nvSpPr>
        <p:spPr>
          <a:xfrm>
            <a:off x="6446520" y="3360420"/>
            <a:ext cx="4800600" cy="365760"/>
          </a:xfrm>
          <a:prstGeom prst="rect">
            <a:avLst/>
          </a:prstGeom>
          <a:noFill/>
          <a:ln/>
        </p:spPr>
        <p:txBody>
          <a:bodyPr wrap="square" lIns="0" tIns="0" rIns="0" bIns="0" rtlCol="0" anchor="ctr"/>
          <a:lstStyle/>
          <a:p>
            <a:pPr marL="0" indent="0" algn="ctr">
              <a:buNone/>
            </a:pPr>
            <a:r>
              <a:rPr lang="en-US" sz="1300" i="1" dirty="0">
                <a:solidFill>
                  <a:srgbClr val="9B9086"/>
                </a:solidFill>
                <a:latin typeface="Calibri" pitchFamily="34" charset="0"/>
                <a:ea typeface="Calibri" pitchFamily="34" charset="-122"/>
                <a:cs typeface="Calibri" pitchFamily="34" charset="-120"/>
              </a:rPr>
              <a:t>Capture d'écran à insérer ici</a:t>
            </a:r>
            <a:endParaRPr lang="en-US" sz="1300" dirty="0"/>
          </a:p>
        </p:txBody>
      </p:sp>
      <p:sp>
        <p:nvSpPr>
          <p:cNvPr id="13" name="Text 11"/>
          <p:cNvSpPr/>
          <p:nvPr/>
        </p:nvSpPr>
        <p:spPr>
          <a:xfrm>
            <a:off x="6446520" y="3817620"/>
            <a:ext cx="4800600" cy="411480"/>
          </a:xfrm>
          <a:prstGeom prst="rect">
            <a:avLst/>
          </a:prstGeom>
          <a:noFill/>
          <a:ln/>
        </p:spPr>
        <p:txBody>
          <a:bodyPr wrap="square" lIns="0" tIns="0" rIns="0" bIns="0" rtlCol="0" anchor="ctr"/>
          <a:lstStyle/>
          <a:p>
            <a:pPr marL="0" indent="0" algn="ctr">
              <a:buNone/>
            </a:pPr>
            <a:r>
              <a:rPr lang="en-US" sz="1450" b="1" dirty="0">
                <a:solidFill>
                  <a:srgbClr val="333333"/>
                </a:solidFill>
                <a:latin typeface="Cambria" pitchFamily="34" charset="0"/>
                <a:ea typeface="Cambria" pitchFamily="34" charset="-122"/>
                <a:cs typeface="Cambria" pitchFamily="34" charset="-120"/>
              </a:rPr>
              <a:t>Formulaire de dépôt d'une réclamation</a:t>
            </a:r>
            <a:endParaRPr lang="en-US" sz="1450" dirty="0"/>
          </a:p>
        </p:txBody>
      </p:sp>
      <p:sp>
        <p:nvSpPr>
          <p:cNvPr id="14" name="Shape 12"/>
          <p:cNvSpPr/>
          <p:nvPr/>
        </p:nvSpPr>
        <p:spPr>
          <a:xfrm>
            <a:off x="6172200" y="1600200"/>
            <a:ext cx="201168" cy="0"/>
          </a:xfrm>
          <a:prstGeom prst="line">
            <a:avLst/>
          </a:prstGeom>
          <a:noFill/>
          <a:ln w="25400">
            <a:solidFill>
              <a:srgbClr val="E3DDD3"/>
            </a:solidFill>
            <a:prstDash val="solid"/>
          </a:ln>
        </p:spPr>
      </p:sp>
      <p:sp>
        <p:nvSpPr>
          <p:cNvPr id="15" name="Shape 13"/>
          <p:cNvSpPr/>
          <p:nvPr/>
        </p:nvSpPr>
        <p:spPr>
          <a:xfrm>
            <a:off x="11320272" y="1600200"/>
            <a:ext cx="201168" cy="0"/>
          </a:xfrm>
          <a:prstGeom prst="line">
            <a:avLst/>
          </a:prstGeom>
          <a:noFill/>
          <a:ln w="25400">
            <a:solidFill>
              <a:srgbClr val="E3DDD3"/>
            </a:solidFill>
            <a:prstDash val="solid"/>
          </a:ln>
        </p:spPr>
      </p:sp>
      <p:sp>
        <p:nvSpPr>
          <p:cNvPr id="16" name="Shape 14"/>
          <p:cNvSpPr/>
          <p:nvPr/>
        </p:nvSpPr>
        <p:spPr>
          <a:xfrm>
            <a:off x="6172200" y="5925312"/>
            <a:ext cx="201168" cy="0"/>
          </a:xfrm>
          <a:prstGeom prst="line">
            <a:avLst/>
          </a:prstGeom>
          <a:noFill/>
          <a:ln w="25400">
            <a:solidFill>
              <a:srgbClr val="E3DDD3"/>
            </a:solidFill>
            <a:prstDash val="solid"/>
          </a:ln>
        </p:spPr>
      </p:sp>
      <p:sp>
        <p:nvSpPr>
          <p:cNvPr id="17" name="Shape 15"/>
          <p:cNvSpPr/>
          <p:nvPr/>
        </p:nvSpPr>
        <p:spPr>
          <a:xfrm>
            <a:off x="11320272" y="5925312"/>
            <a:ext cx="201168" cy="0"/>
          </a:xfrm>
          <a:prstGeom prst="line">
            <a:avLst/>
          </a:prstGeom>
          <a:noFill/>
          <a:ln w="25400">
            <a:solidFill>
              <a:srgbClr val="E3DDD3"/>
            </a:solidFill>
            <a:prstDash val="solid"/>
          </a:ln>
        </p:spPr>
      </p:sp>
      <p:sp>
        <p:nvSpPr>
          <p:cNvPr id="18" name="Text 16"/>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CitizenConnect</a:t>
            </a:r>
            <a:endParaRPr lang="en-US" sz="900" dirty="0"/>
          </a:p>
        </p:txBody>
      </p:sp>
      <p:sp>
        <p:nvSpPr>
          <p:cNvPr id="19" name="Text 1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B8863F"/>
                </a:solidFill>
                <a:latin typeface="Calibri" pitchFamily="34" charset="0"/>
                <a:ea typeface="Calibri" pitchFamily="34" charset="-122"/>
                <a:cs typeface="Calibri" pitchFamily="34" charset="-120"/>
              </a:rPr>
              <a:t>DÉMONSTRATION</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marL="0" indent="0">
              <a:buNone/>
            </a:pPr>
            <a:r>
              <a:rPr lang="en-US" sz="3000" b="1" dirty="0">
                <a:solidFill>
                  <a:srgbClr val="6E2C2C"/>
                </a:solidFill>
                <a:latin typeface="Cambria" pitchFamily="34" charset="0"/>
                <a:ea typeface="Cambria" pitchFamily="34" charset="-122"/>
                <a:cs typeface="Cambria" pitchFamily="34" charset="-120"/>
              </a:rPr>
              <a:t>Traitement et espace Agent</a:t>
            </a:r>
            <a:endParaRPr lang="en-US" sz="3000" dirty="0"/>
          </a:p>
        </p:txBody>
      </p:sp>
      <p:sp>
        <p:nvSpPr>
          <p:cNvPr id="4" name="Shape 2"/>
          <p:cNvSpPr/>
          <p:nvPr/>
        </p:nvSpPr>
        <p:spPr>
          <a:xfrm>
            <a:off x="548640" y="1600200"/>
            <a:ext cx="5349240" cy="4526280"/>
          </a:xfrm>
          <a:prstGeom prst="roundRect">
            <a:avLst>
              <a:gd name="adj" fmla="val 1010"/>
            </a:avLst>
          </a:prstGeom>
          <a:solidFill>
            <a:srgbClr val="FAF9F7"/>
          </a:solidFill>
          <a:ln w="19050">
            <a:solidFill>
              <a:srgbClr val="E3DDD3"/>
            </a:solidFill>
            <a:prstDash val="dash"/>
          </a:ln>
        </p:spPr>
      </p:sp>
      <p:sp>
        <p:nvSpPr>
          <p:cNvPr id="5" name="Text 3"/>
          <p:cNvSpPr/>
          <p:nvPr/>
        </p:nvSpPr>
        <p:spPr>
          <a:xfrm>
            <a:off x="822960" y="3360420"/>
            <a:ext cx="4800600" cy="365760"/>
          </a:xfrm>
          <a:prstGeom prst="rect">
            <a:avLst/>
          </a:prstGeom>
          <a:noFill/>
          <a:ln/>
        </p:spPr>
        <p:txBody>
          <a:bodyPr wrap="square" lIns="0" tIns="0" rIns="0" bIns="0" rtlCol="0" anchor="ctr"/>
          <a:lstStyle/>
          <a:p>
            <a:pPr marL="0" indent="0" algn="ctr">
              <a:buNone/>
            </a:pPr>
            <a:r>
              <a:rPr lang="en-US" sz="1300" i="1" dirty="0">
                <a:solidFill>
                  <a:srgbClr val="9B9086"/>
                </a:solidFill>
                <a:latin typeface="Calibri" pitchFamily="34" charset="0"/>
                <a:ea typeface="Calibri" pitchFamily="34" charset="-122"/>
                <a:cs typeface="Calibri" pitchFamily="34" charset="-120"/>
              </a:rPr>
              <a:t>Capture d'écran à insérer ici</a:t>
            </a:r>
            <a:endParaRPr lang="en-US" sz="1300" dirty="0"/>
          </a:p>
        </p:txBody>
      </p:sp>
      <p:sp>
        <p:nvSpPr>
          <p:cNvPr id="6" name="Text 4"/>
          <p:cNvSpPr/>
          <p:nvPr/>
        </p:nvSpPr>
        <p:spPr>
          <a:xfrm>
            <a:off x="822960" y="3817620"/>
            <a:ext cx="4800600" cy="411480"/>
          </a:xfrm>
          <a:prstGeom prst="rect">
            <a:avLst/>
          </a:prstGeom>
          <a:noFill/>
          <a:ln/>
        </p:spPr>
        <p:txBody>
          <a:bodyPr wrap="square" lIns="0" tIns="0" rIns="0" bIns="0" rtlCol="0" anchor="ctr"/>
          <a:lstStyle/>
          <a:p>
            <a:pPr marL="0" indent="0" algn="ctr">
              <a:buNone/>
            </a:pPr>
            <a:r>
              <a:rPr lang="en-US" sz="1450" b="1" dirty="0">
                <a:solidFill>
                  <a:srgbClr val="333333"/>
                </a:solidFill>
                <a:latin typeface="Cambria" pitchFamily="34" charset="0"/>
                <a:ea typeface="Cambria" pitchFamily="34" charset="-122"/>
                <a:cs typeface="Cambria" pitchFamily="34" charset="-120"/>
              </a:rPr>
              <a:t>Détail d'une réclamation</a:t>
            </a:r>
            <a:endParaRPr lang="en-US" sz="1450" dirty="0"/>
          </a:p>
        </p:txBody>
      </p:sp>
      <p:sp>
        <p:nvSpPr>
          <p:cNvPr id="7" name="Shape 5"/>
          <p:cNvSpPr/>
          <p:nvPr/>
        </p:nvSpPr>
        <p:spPr>
          <a:xfrm>
            <a:off x="548640" y="1600200"/>
            <a:ext cx="201168" cy="0"/>
          </a:xfrm>
          <a:prstGeom prst="line">
            <a:avLst/>
          </a:prstGeom>
          <a:noFill/>
          <a:ln w="25400">
            <a:solidFill>
              <a:srgbClr val="E3DDD3"/>
            </a:solidFill>
            <a:prstDash val="solid"/>
          </a:ln>
        </p:spPr>
      </p:sp>
      <p:sp>
        <p:nvSpPr>
          <p:cNvPr id="8" name="Shape 6"/>
          <p:cNvSpPr/>
          <p:nvPr/>
        </p:nvSpPr>
        <p:spPr>
          <a:xfrm>
            <a:off x="5696712" y="1600200"/>
            <a:ext cx="201168" cy="0"/>
          </a:xfrm>
          <a:prstGeom prst="line">
            <a:avLst/>
          </a:prstGeom>
          <a:noFill/>
          <a:ln w="25400">
            <a:solidFill>
              <a:srgbClr val="E3DDD3"/>
            </a:solidFill>
            <a:prstDash val="solid"/>
          </a:ln>
        </p:spPr>
      </p:sp>
      <p:sp>
        <p:nvSpPr>
          <p:cNvPr id="9" name="Shape 7"/>
          <p:cNvSpPr/>
          <p:nvPr/>
        </p:nvSpPr>
        <p:spPr>
          <a:xfrm>
            <a:off x="548640" y="5925312"/>
            <a:ext cx="201168" cy="0"/>
          </a:xfrm>
          <a:prstGeom prst="line">
            <a:avLst/>
          </a:prstGeom>
          <a:noFill/>
          <a:ln w="25400">
            <a:solidFill>
              <a:srgbClr val="E3DDD3"/>
            </a:solidFill>
            <a:prstDash val="solid"/>
          </a:ln>
        </p:spPr>
      </p:sp>
      <p:sp>
        <p:nvSpPr>
          <p:cNvPr id="10" name="Shape 8"/>
          <p:cNvSpPr/>
          <p:nvPr/>
        </p:nvSpPr>
        <p:spPr>
          <a:xfrm>
            <a:off x="5696712" y="5925312"/>
            <a:ext cx="201168" cy="0"/>
          </a:xfrm>
          <a:prstGeom prst="line">
            <a:avLst/>
          </a:prstGeom>
          <a:noFill/>
          <a:ln w="25400">
            <a:solidFill>
              <a:srgbClr val="E3DDD3"/>
            </a:solidFill>
            <a:prstDash val="solid"/>
          </a:ln>
        </p:spPr>
      </p:sp>
      <p:sp>
        <p:nvSpPr>
          <p:cNvPr id="11" name="Shape 9"/>
          <p:cNvSpPr/>
          <p:nvPr/>
        </p:nvSpPr>
        <p:spPr>
          <a:xfrm>
            <a:off x="6172200" y="1600200"/>
            <a:ext cx="5349240" cy="4526280"/>
          </a:xfrm>
          <a:prstGeom prst="roundRect">
            <a:avLst>
              <a:gd name="adj" fmla="val 1010"/>
            </a:avLst>
          </a:prstGeom>
          <a:solidFill>
            <a:srgbClr val="FAF9F7"/>
          </a:solidFill>
          <a:ln w="19050">
            <a:solidFill>
              <a:srgbClr val="E3DDD3"/>
            </a:solidFill>
            <a:prstDash val="dash"/>
          </a:ln>
        </p:spPr>
      </p:sp>
      <p:sp>
        <p:nvSpPr>
          <p:cNvPr id="12" name="Text 10"/>
          <p:cNvSpPr/>
          <p:nvPr/>
        </p:nvSpPr>
        <p:spPr>
          <a:xfrm>
            <a:off x="6446520" y="3360420"/>
            <a:ext cx="4800600" cy="365760"/>
          </a:xfrm>
          <a:prstGeom prst="rect">
            <a:avLst/>
          </a:prstGeom>
          <a:noFill/>
          <a:ln/>
        </p:spPr>
        <p:txBody>
          <a:bodyPr wrap="square" lIns="0" tIns="0" rIns="0" bIns="0" rtlCol="0" anchor="ctr"/>
          <a:lstStyle/>
          <a:p>
            <a:pPr marL="0" indent="0" algn="ctr">
              <a:buNone/>
            </a:pPr>
            <a:r>
              <a:rPr lang="en-US" sz="1300" i="1" dirty="0">
                <a:solidFill>
                  <a:srgbClr val="9B9086"/>
                </a:solidFill>
                <a:latin typeface="Calibri" pitchFamily="34" charset="0"/>
                <a:ea typeface="Calibri" pitchFamily="34" charset="-122"/>
                <a:cs typeface="Calibri" pitchFamily="34" charset="-120"/>
              </a:rPr>
              <a:t>Capture d'écran à insérer ici</a:t>
            </a:r>
            <a:endParaRPr lang="en-US" sz="1300" dirty="0"/>
          </a:p>
        </p:txBody>
      </p:sp>
      <p:sp>
        <p:nvSpPr>
          <p:cNvPr id="13" name="Text 11"/>
          <p:cNvSpPr/>
          <p:nvPr/>
        </p:nvSpPr>
        <p:spPr>
          <a:xfrm>
            <a:off x="6446520" y="3817620"/>
            <a:ext cx="4800600" cy="411480"/>
          </a:xfrm>
          <a:prstGeom prst="rect">
            <a:avLst/>
          </a:prstGeom>
          <a:noFill/>
          <a:ln/>
        </p:spPr>
        <p:txBody>
          <a:bodyPr wrap="square" lIns="0" tIns="0" rIns="0" bIns="0" rtlCol="0" anchor="ctr"/>
          <a:lstStyle/>
          <a:p>
            <a:pPr marL="0" indent="0" algn="ctr">
              <a:buNone/>
            </a:pPr>
            <a:r>
              <a:rPr lang="en-US" sz="1450" b="1" dirty="0">
                <a:solidFill>
                  <a:srgbClr val="333333"/>
                </a:solidFill>
                <a:latin typeface="Cambria" pitchFamily="34" charset="0"/>
                <a:ea typeface="Cambria" pitchFamily="34" charset="-122"/>
                <a:cs typeface="Cambria" pitchFamily="34" charset="-120"/>
              </a:rPr>
              <a:t>Tableau de bord — Agent</a:t>
            </a:r>
            <a:endParaRPr lang="en-US" sz="1450" dirty="0"/>
          </a:p>
        </p:txBody>
      </p:sp>
      <p:sp>
        <p:nvSpPr>
          <p:cNvPr id="14" name="Shape 12"/>
          <p:cNvSpPr/>
          <p:nvPr/>
        </p:nvSpPr>
        <p:spPr>
          <a:xfrm>
            <a:off x="6172200" y="1600200"/>
            <a:ext cx="201168" cy="0"/>
          </a:xfrm>
          <a:prstGeom prst="line">
            <a:avLst/>
          </a:prstGeom>
          <a:noFill/>
          <a:ln w="25400">
            <a:solidFill>
              <a:srgbClr val="E3DDD3"/>
            </a:solidFill>
            <a:prstDash val="solid"/>
          </a:ln>
        </p:spPr>
      </p:sp>
      <p:sp>
        <p:nvSpPr>
          <p:cNvPr id="15" name="Shape 13"/>
          <p:cNvSpPr/>
          <p:nvPr/>
        </p:nvSpPr>
        <p:spPr>
          <a:xfrm>
            <a:off x="11320272" y="1600200"/>
            <a:ext cx="201168" cy="0"/>
          </a:xfrm>
          <a:prstGeom prst="line">
            <a:avLst/>
          </a:prstGeom>
          <a:noFill/>
          <a:ln w="25400">
            <a:solidFill>
              <a:srgbClr val="E3DDD3"/>
            </a:solidFill>
            <a:prstDash val="solid"/>
          </a:ln>
        </p:spPr>
      </p:sp>
      <p:sp>
        <p:nvSpPr>
          <p:cNvPr id="16" name="Shape 14"/>
          <p:cNvSpPr/>
          <p:nvPr/>
        </p:nvSpPr>
        <p:spPr>
          <a:xfrm>
            <a:off x="6172200" y="5925312"/>
            <a:ext cx="201168" cy="0"/>
          </a:xfrm>
          <a:prstGeom prst="line">
            <a:avLst/>
          </a:prstGeom>
          <a:noFill/>
          <a:ln w="25400">
            <a:solidFill>
              <a:srgbClr val="E3DDD3"/>
            </a:solidFill>
            <a:prstDash val="solid"/>
          </a:ln>
        </p:spPr>
      </p:sp>
      <p:sp>
        <p:nvSpPr>
          <p:cNvPr id="17" name="Shape 15"/>
          <p:cNvSpPr/>
          <p:nvPr/>
        </p:nvSpPr>
        <p:spPr>
          <a:xfrm>
            <a:off x="11320272" y="5925312"/>
            <a:ext cx="201168" cy="0"/>
          </a:xfrm>
          <a:prstGeom prst="line">
            <a:avLst/>
          </a:prstGeom>
          <a:noFill/>
          <a:ln w="25400">
            <a:solidFill>
              <a:srgbClr val="E3DDD3"/>
            </a:solidFill>
            <a:prstDash val="solid"/>
          </a:ln>
        </p:spPr>
      </p:sp>
      <p:sp>
        <p:nvSpPr>
          <p:cNvPr id="18" name="Text 16"/>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CitizenConnect</a:t>
            </a:r>
            <a:endParaRPr lang="en-US" sz="900" dirty="0"/>
          </a:p>
        </p:txBody>
      </p:sp>
      <p:sp>
        <p:nvSpPr>
          <p:cNvPr id="19" name="Text 1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B8863F"/>
                </a:solidFill>
                <a:latin typeface="Calibri" pitchFamily="34" charset="0"/>
                <a:ea typeface="Calibri" pitchFamily="34" charset="-122"/>
                <a:cs typeface="Calibri" pitchFamily="34" charset="-120"/>
              </a:rPr>
              <a:t>DÉMONSTRATION</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marL="0" indent="0">
              <a:buNone/>
            </a:pPr>
            <a:r>
              <a:rPr lang="en-US" sz="3000" b="1" dirty="0">
                <a:solidFill>
                  <a:srgbClr val="6E2C2C"/>
                </a:solidFill>
                <a:latin typeface="Cambria" pitchFamily="34" charset="0"/>
                <a:ea typeface="Cambria" pitchFamily="34" charset="-122"/>
                <a:cs typeface="Cambria" pitchFamily="34" charset="-120"/>
              </a:rPr>
              <a:t>Espace Administrateur</a:t>
            </a:r>
            <a:endParaRPr lang="en-US" sz="3000" dirty="0"/>
          </a:p>
        </p:txBody>
      </p:sp>
      <p:sp>
        <p:nvSpPr>
          <p:cNvPr id="4" name="Shape 2"/>
          <p:cNvSpPr/>
          <p:nvPr/>
        </p:nvSpPr>
        <p:spPr>
          <a:xfrm>
            <a:off x="548640" y="1600200"/>
            <a:ext cx="5349240" cy="4526280"/>
          </a:xfrm>
          <a:prstGeom prst="roundRect">
            <a:avLst>
              <a:gd name="adj" fmla="val 1010"/>
            </a:avLst>
          </a:prstGeom>
          <a:solidFill>
            <a:srgbClr val="FAF9F7"/>
          </a:solidFill>
          <a:ln w="19050">
            <a:solidFill>
              <a:srgbClr val="E3DDD3"/>
            </a:solidFill>
            <a:prstDash val="dash"/>
          </a:ln>
        </p:spPr>
      </p:sp>
      <p:sp>
        <p:nvSpPr>
          <p:cNvPr id="5" name="Text 3"/>
          <p:cNvSpPr/>
          <p:nvPr/>
        </p:nvSpPr>
        <p:spPr>
          <a:xfrm>
            <a:off x="822960" y="3360420"/>
            <a:ext cx="4800600" cy="365760"/>
          </a:xfrm>
          <a:prstGeom prst="rect">
            <a:avLst/>
          </a:prstGeom>
          <a:noFill/>
          <a:ln/>
        </p:spPr>
        <p:txBody>
          <a:bodyPr wrap="square" lIns="0" tIns="0" rIns="0" bIns="0" rtlCol="0" anchor="ctr"/>
          <a:lstStyle/>
          <a:p>
            <a:pPr marL="0" indent="0" algn="ctr">
              <a:buNone/>
            </a:pPr>
            <a:r>
              <a:rPr lang="en-US" sz="1300" i="1" dirty="0">
                <a:solidFill>
                  <a:srgbClr val="9B9086"/>
                </a:solidFill>
                <a:latin typeface="Calibri" pitchFamily="34" charset="0"/>
                <a:ea typeface="Calibri" pitchFamily="34" charset="-122"/>
                <a:cs typeface="Calibri" pitchFamily="34" charset="-120"/>
              </a:rPr>
              <a:t>Capture d'écran à insérer ici</a:t>
            </a:r>
            <a:endParaRPr lang="en-US" sz="1300" dirty="0"/>
          </a:p>
        </p:txBody>
      </p:sp>
      <p:sp>
        <p:nvSpPr>
          <p:cNvPr id="6" name="Text 4"/>
          <p:cNvSpPr/>
          <p:nvPr/>
        </p:nvSpPr>
        <p:spPr>
          <a:xfrm>
            <a:off x="822960" y="3817620"/>
            <a:ext cx="4800600" cy="411480"/>
          </a:xfrm>
          <a:prstGeom prst="rect">
            <a:avLst/>
          </a:prstGeom>
          <a:noFill/>
          <a:ln/>
        </p:spPr>
        <p:txBody>
          <a:bodyPr wrap="square" lIns="0" tIns="0" rIns="0" bIns="0" rtlCol="0" anchor="ctr"/>
          <a:lstStyle/>
          <a:p>
            <a:pPr marL="0" indent="0" algn="ctr">
              <a:buNone/>
            </a:pPr>
            <a:r>
              <a:rPr lang="en-US" sz="1450" b="1" dirty="0">
                <a:solidFill>
                  <a:srgbClr val="333333"/>
                </a:solidFill>
                <a:latin typeface="Cambria" pitchFamily="34" charset="0"/>
                <a:ea typeface="Cambria" pitchFamily="34" charset="-122"/>
                <a:cs typeface="Cambria" pitchFamily="34" charset="-120"/>
              </a:rPr>
              <a:t>Gestion des utilisateurs</a:t>
            </a:r>
            <a:endParaRPr lang="en-US" sz="1450" dirty="0"/>
          </a:p>
        </p:txBody>
      </p:sp>
      <p:sp>
        <p:nvSpPr>
          <p:cNvPr id="7" name="Shape 5"/>
          <p:cNvSpPr/>
          <p:nvPr/>
        </p:nvSpPr>
        <p:spPr>
          <a:xfrm>
            <a:off x="548640" y="1600200"/>
            <a:ext cx="201168" cy="0"/>
          </a:xfrm>
          <a:prstGeom prst="line">
            <a:avLst/>
          </a:prstGeom>
          <a:noFill/>
          <a:ln w="25400">
            <a:solidFill>
              <a:srgbClr val="E3DDD3"/>
            </a:solidFill>
            <a:prstDash val="solid"/>
          </a:ln>
        </p:spPr>
      </p:sp>
      <p:sp>
        <p:nvSpPr>
          <p:cNvPr id="8" name="Shape 6"/>
          <p:cNvSpPr/>
          <p:nvPr/>
        </p:nvSpPr>
        <p:spPr>
          <a:xfrm>
            <a:off x="5696712" y="1600200"/>
            <a:ext cx="201168" cy="0"/>
          </a:xfrm>
          <a:prstGeom prst="line">
            <a:avLst/>
          </a:prstGeom>
          <a:noFill/>
          <a:ln w="25400">
            <a:solidFill>
              <a:srgbClr val="E3DDD3"/>
            </a:solidFill>
            <a:prstDash val="solid"/>
          </a:ln>
        </p:spPr>
      </p:sp>
      <p:sp>
        <p:nvSpPr>
          <p:cNvPr id="9" name="Shape 7"/>
          <p:cNvSpPr/>
          <p:nvPr/>
        </p:nvSpPr>
        <p:spPr>
          <a:xfrm>
            <a:off x="548640" y="5925312"/>
            <a:ext cx="201168" cy="0"/>
          </a:xfrm>
          <a:prstGeom prst="line">
            <a:avLst/>
          </a:prstGeom>
          <a:noFill/>
          <a:ln w="25400">
            <a:solidFill>
              <a:srgbClr val="E3DDD3"/>
            </a:solidFill>
            <a:prstDash val="solid"/>
          </a:ln>
        </p:spPr>
      </p:sp>
      <p:sp>
        <p:nvSpPr>
          <p:cNvPr id="10" name="Shape 8"/>
          <p:cNvSpPr/>
          <p:nvPr/>
        </p:nvSpPr>
        <p:spPr>
          <a:xfrm>
            <a:off x="5696712" y="5925312"/>
            <a:ext cx="201168" cy="0"/>
          </a:xfrm>
          <a:prstGeom prst="line">
            <a:avLst/>
          </a:prstGeom>
          <a:noFill/>
          <a:ln w="25400">
            <a:solidFill>
              <a:srgbClr val="E3DDD3"/>
            </a:solidFill>
            <a:prstDash val="solid"/>
          </a:ln>
        </p:spPr>
      </p:sp>
      <p:sp>
        <p:nvSpPr>
          <p:cNvPr id="11" name="Shape 9"/>
          <p:cNvSpPr/>
          <p:nvPr/>
        </p:nvSpPr>
        <p:spPr>
          <a:xfrm>
            <a:off x="6172200" y="1600200"/>
            <a:ext cx="5349240" cy="4526280"/>
          </a:xfrm>
          <a:prstGeom prst="roundRect">
            <a:avLst>
              <a:gd name="adj" fmla="val 1010"/>
            </a:avLst>
          </a:prstGeom>
          <a:solidFill>
            <a:srgbClr val="FAF9F7"/>
          </a:solidFill>
          <a:ln w="19050">
            <a:solidFill>
              <a:srgbClr val="E3DDD3"/>
            </a:solidFill>
            <a:prstDash val="dash"/>
          </a:ln>
        </p:spPr>
      </p:sp>
      <p:sp>
        <p:nvSpPr>
          <p:cNvPr id="12" name="Text 10"/>
          <p:cNvSpPr/>
          <p:nvPr/>
        </p:nvSpPr>
        <p:spPr>
          <a:xfrm>
            <a:off x="6446520" y="3360420"/>
            <a:ext cx="4800600" cy="365760"/>
          </a:xfrm>
          <a:prstGeom prst="rect">
            <a:avLst/>
          </a:prstGeom>
          <a:noFill/>
          <a:ln/>
        </p:spPr>
        <p:txBody>
          <a:bodyPr wrap="square" lIns="0" tIns="0" rIns="0" bIns="0" rtlCol="0" anchor="ctr"/>
          <a:lstStyle/>
          <a:p>
            <a:pPr marL="0" indent="0" algn="ctr">
              <a:buNone/>
            </a:pPr>
            <a:r>
              <a:rPr lang="en-US" sz="1300" i="1" dirty="0">
                <a:solidFill>
                  <a:srgbClr val="9B9086"/>
                </a:solidFill>
                <a:latin typeface="Calibri" pitchFamily="34" charset="0"/>
                <a:ea typeface="Calibri" pitchFamily="34" charset="-122"/>
                <a:cs typeface="Calibri" pitchFamily="34" charset="-120"/>
              </a:rPr>
              <a:t>Capture d'écran à insérer ici</a:t>
            </a:r>
            <a:endParaRPr lang="en-US" sz="1300" dirty="0"/>
          </a:p>
        </p:txBody>
      </p:sp>
      <p:sp>
        <p:nvSpPr>
          <p:cNvPr id="13" name="Text 11"/>
          <p:cNvSpPr/>
          <p:nvPr/>
        </p:nvSpPr>
        <p:spPr>
          <a:xfrm>
            <a:off x="6446520" y="3817620"/>
            <a:ext cx="4800600" cy="411480"/>
          </a:xfrm>
          <a:prstGeom prst="rect">
            <a:avLst/>
          </a:prstGeom>
          <a:noFill/>
          <a:ln/>
        </p:spPr>
        <p:txBody>
          <a:bodyPr wrap="square" lIns="0" tIns="0" rIns="0" bIns="0" rtlCol="0" anchor="ctr"/>
          <a:lstStyle/>
          <a:p>
            <a:pPr marL="0" indent="0" algn="ctr">
              <a:buNone/>
            </a:pPr>
            <a:r>
              <a:rPr lang="en-US" sz="1450" b="1" dirty="0">
                <a:solidFill>
                  <a:srgbClr val="333333"/>
                </a:solidFill>
                <a:latin typeface="Cambria" pitchFamily="34" charset="0"/>
                <a:ea typeface="Cambria" pitchFamily="34" charset="-122"/>
                <a:cs typeface="Cambria" pitchFamily="34" charset="-120"/>
              </a:rPr>
              <a:t>Page des statistiques</a:t>
            </a:r>
            <a:endParaRPr lang="en-US" sz="1450" dirty="0"/>
          </a:p>
        </p:txBody>
      </p:sp>
      <p:sp>
        <p:nvSpPr>
          <p:cNvPr id="14" name="Shape 12"/>
          <p:cNvSpPr/>
          <p:nvPr/>
        </p:nvSpPr>
        <p:spPr>
          <a:xfrm>
            <a:off x="6172200" y="1600200"/>
            <a:ext cx="201168" cy="0"/>
          </a:xfrm>
          <a:prstGeom prst="line">
            <a:avLst/>
          </a:prstGeom>
          <a:noFill/>
          <a:ln w="25400">
            <a:solidFill>
              <a:srgbClr val="E3DDD3"/>
            </a:solidFill>
            <a:prstDash val="solid"/>
          </a:ln>
        </p:spPr>
      </p:sp>
      <p:sp>
        <p:nvSpPr>
          <p:cNvPr id="15" name="Shape 13"/>
          <p:cNvSpPr/>
          <p:nvPr/>
        </p:nvSpPr>
        <p:spPr>
          <a:xfrm>
            <a:off x="11320272" y="1600200"/>
            <a:ext cx="201168" cy="0"/>
          </a:xfrm>
          <a:prstGeom prst="line">
            <a:avLst/>
          </a:prstGeom>
          <a:noFill/>
          <a:ln w="25400">
            <a:solidFill>
              <a:srgbClr val="E3DDD3"/>
            </a:solidFill>
            <a:prstDash val="solid"/>
          </a:ln>
        </p:spPr>
      </p:sp>
      <p:sp>
        <p:nvSpPr>
          <p:cNvPr id="16" name="Shape 14"/>
          <p:cNvSpPr/>
          <p:nvPr/>
        </p:nvSpPr>
        <p:spPr>
          <a:xfrm>
            <a:off x="6172200" y="5925312"/>
            <a:ext cx="201168" cy="0"/>
          </a:xfrm>
          <a:prstGeom prst="line">
            <a:avLst/>
          </a:prstGeom>
          <a:noFill/>
          <a:ln w="25400">
            <a:solidFill>
              <a:srgbClr val="E3DDD3"/>
            </a:solidFill>
            <a:prstDash val="solid"/>
          </a:ln>
        </p:spPr>
      </p:sp>
      <p:sp>
        <p:nvSpPr>
          <p:cNvPr id="17" name="Shape 15"/>
          <p:cNvSpPr/>
          <p:nvPr/>
        </p:nvSpPr>
        <p:spPr>
          <a:xfrm>
            <a:off x="11320272" y="5925312"/>
            <a:ext cx="201168" cy="0"/>
          </a:xfrm>
          <a:prstGeom prst="line">
            <a:avLst/>
          </a:prstGeom>
          <a:noFill/>
          <a:ln w="25400">
            <a:solidFill>
              <a:srgbClr val="E3DDD3"/>
            </a:solidFill>
            <a:prstDash val="solid"/>
          </a:ln>
        </p:spPr>
      </p:sp>
      <p:sp>
        <p:nvSpPr>
          <p:cNvPr id="18" name="Text 16"/>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CitizenConnect</a:t>
            </a:r>
            <a:endParaRPr lang="en-US" sz="900" dirty="0"/>
          </a:p>
        </p:txBody>
      </p:sp>
      <p:sp>
        <p:nvSpPr>
          <p:cNvPr id="19" name="Text 1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B8863F"/>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marL="0" indent="0">
              <a:buNone/>
            </a:pPr>
            <a:r>
              <a:rPr lang="en-US" sz="3000" b="1" dirty="0">
                <a:solidFill>
                  <a:srgbClr val="6E2C2C"/>
                </a:solidFill>
                <a:latin typeface="Cambria" pitchFamily="34" charset="0"/>
                <a:ea typeface="Cambria" pitchFamily="34" charset="-122"/>
                <a:cs typeface="Cambria" pitchFamily="34" charset="-120"/>
              </a:rPr>
              <a:t>Perspectives d'évolution</a:t>
            </a:r>
            <a:endParaRPr lang="en-US" sz="3000" dirty="0"/>
          </a:p>
        </p:txBody>
      </p:sp>
      <p:sp>
        <p:nvSpPr>
          <p:cNvPr id="4" name="Shape 2"/>
          <p:cNvSpPr/>
          <p:nvPr/>
        </p:nvSpPr>
        <p:spPr>
          <a:xfrm>
            <a:off x="548640" y="1783080"/>
            <a:ext cx="5349240" cy="1188720"/>
          </a:xfrm>
          <a:prstGeom prst="roundRect">
            <a:avLst>
              <a:gd name="adj" fmla="val 5385"/>
            </a:avLst>
          </a:prstGeom>
          <a:solidFill>
            <a:srgbClr val="FBFAF8"/>
          </a:solidFill>
          <a:ln w="12700">
            <a:solidFill>
              <a:srgbClr val="E3DDD3"/>
            </a:solidFill>
            <a:prstDash val="solid"/>
          </a:ln>
        </p:spPr>
      </p:sp>
      <p:sp>
        <p:nvSpPr>
          <p:cNvPr id="5" name="Shape 3"/>
          <p:cNvSpPr/>
          <p:nvPr/>
        </p:nvSpPr>
        <p:spPr>
          <a:xfrm>
            <a:off x="749808" y="2148840"/>
            <a:ext cx="457200" cy="457200"/>
          </a:xfrm>
          <a:prstGeom prst="ellipse">
            <a:avLst/>
          </a:prstGeom>
          <a:solidFill>
            <a:srgbClr val="6E2C2C"/>
          </a:solidFill>
          <a:ln/>
        </p:spPr>
      </p:sp>
      <p:sp>
        <p:nvSpPr>
          <p:cNvPr id="6" name="Text 4"/>
          <p:cNvSpPr/>
          <p:nvPr/>
        </p:nvSpPr>
        <p:spPr>
          <a:xfrm>
            <a:off x="749808" y="21488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417320" y="1892808"/>
            <a:ext cx="4297680" cy="960120"/>
          </a:xfrm>
          <a:prstGeom prst="rect">
            <a:avLst/>
          </a:prstGeom>
          <a:noFill/>
          <a:ln/>
        </p:spPr>
        <p:txBody>
          <a:bodyPr wrap="square" lIns="0" tIns="0" rIns="0" bIns="0" rtlCol="0" anchor="ctr"/>
          <a:lstStyle/>
          <a:p>
            <a:pPr marL="0" indent="0">
              <a:lnSpc>
                <a:spcPct val="115000"/>
              </a:lnSpc>
              <a:buNone/>
            </a:pPr>
            <a:r>
              <a:rPr lang="en-US" sz="1300" dirty="0">
                <a:solidFill>
                  <a:srgbClr val="333333"/>
                </a:solidFill>
                <a:latin typeface="Calibri" pitchFamily="34" charset="0"/>
                <a:ea typeface="Calibri" pitchFamily="34" charset="-122"/>
                <a:cs typeface="Calibri" pitchFamily="34" charset="-120"/>
              </a:rPr>
              <a:t>Migrations de schéma versionnées (Flyway / Liquibase)</a:t>
            </a:r>
            <a:endParaRPr lang="en-US" sz="1300" dirty="0"/>
          </a:p>
        </p:txBody>
      </p:sp>
      <p:sp>
        <p:nvSpPr>
          <p:cNvPr id="8" name="Shape 6"/>
          <p:cNvSpPr/>
          <p:nvPr/>
        </p:nvSpPr>
        <p:spPr>
          <a:xfrm>
            <a:off x="6172200" y="1783080"/>
            <a:ext cx="5349240" cy="1188720"/>
          </a:xfrm>
          <a:prstGeom prst="roundRect">
            <a:avLst>
              <a:gd name="adj" fmla="val 5385"/>
            </a:avLst>
          </a:prstGeom>
          <a:solidFill>
            <a:srgbClr val="FBFAF8"/>
          </a:solidFill>
          <a:ln w="12700">
            <a:solidFill>
              <a:srgbClr val="E3DDD3"/>
            </a:solidFill>
            <a:prstDash val="solid"/>
          </a:ln>
        </p:spPr>
      </p:sp>
      <p:sp>
        <p:nvSpPr>
          <p:cNvPr id="9" name="Shape 7"/>
          <p:cNvSpPr/>
          <p:nvPr/>
        </p:nvSpPr>
        <p:spPr>
          <a:xfrm>
            <a:off x="6373368" y="2148840"/>
            <a:ext cx="457200" cy="457200"/>
          </a:xfrm>
          <a:prstGeom prst="ellipse">
            <a:avLst/>
          </a:prstGeom>
          <a:solidFill>
            <a:srgbClr val="6E2C2C"/>
          </a:solidFill>
          <a:ln/>
        </p:spPr>
      </p:sp>
      <p:sp>
        <p:nvSpPr>
          <p:cNvPr id="10" name="Text 8"/>
          <p:cNvSpPr/>
          <p:nvPr/>
        </p:nvSpPr>
        <p:spPr>
          <a:xfrm>
            <a:off x="6373368" y="21488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p:nvPr/>
        </p:nvSpPr>
        <p:spPr>
          <a:xfrm>
            <a:off x="7040880" y="1892808"/>
            <a:ext cx="4297680" cy="960120"/>
          </a:xfrm>
          <a:prstGeom prst="rect">
            <a:avLst/>
          </a:prstGeom>
          <a:noFill/>
          <a:ln/>
        </p:spPr>
        <p:txBody>
          <a:bodyPr wrap="square" lIns="0" tIns="0" rIns="0" bIns="0" rtlCol="0" anchor="ctr"/>
          <a:lstStyle/>
          <a:p>
            <a:pPr marL="0" indent="0">
              <a:lnSpc>
                <a:spcPct val="115000"/>
              </a:lnSpc>
              <a:buNone/>
            </a:pPr>
            <a:r>
              <a:rPr lang="en-US" sz="1300" dirty="0">
                <a:solidFill>
                  <a:srgbClr val="333333"/>
                </a:solidFill>
                <a:latin typeface="Calibri" pitchFamily="34" charset="0"/>
                <a:ea typeface="Calibri" pitchFamily="34" charset="-122"/>
                <a:cs typeface="Calibri" pitchFamily="34" charset="-120"/>
              </a:rPr>
              <a:t>Stockage des pièces jointes externalisé (compatible S3)</a:t>
            </a:r>
            <a:endParaRPr lang="en-US" sz="1300" dirty="0"/>
          </a:p>
        </p:txBody>
      </p:sp>
      <p:sp>
        <p:nvSpPr>
          <p:cNvPr id="12" name="Shape 10"/>
          <p:cNvSpPr/>
          <p:nvPr/>
        </p:nvSpPr>
        <p:spPr>
          <a:xfrm>
            <a:off x="548640" y="3200400"/>
            <a:ext cx="5349240" cy="1188720"/>
          </a:xfrm>
          <a:prstGeom prst="roundRect">
            <a:avLst>
              <a:gd name="adj" fmla="val 5385"/>
            </a:avLst>
          </a:prstGeom>
          <a:solidFill>
            <a:srgbClr val="FBFAF8"/>
          </a:solidFill>
          <a:ln w="12700">
            <a:solidFill>
              <a:srgbClr val="E3DDD3"/>
            </a:solidFill>
            <a:prstDash val="solid"/>
          </a:ln>
        </p:spPr>
      </p:sp>
      <p:sp>
        <p:nvSpPr>
          <p:cNvPr id="13" name="Shape 11"/>
          <p:cNvSpPr/>
          <p:nvPr/>
        </p:nvSpPr>
        <p:spPr>
          <a:xfrm>
            <a:off x="749808" y="3566160"/>
            <a:ext cx="457200" cy="457200"/>
          </a:xfrm>
          <a:prstGeom prst="ellipse">
            <a:avLst/>
          </a:prstGeom>
          <a:solidFill>
            <a:srgbClr val="6E2C2C"/>
          </a:solidFill>
          <a:ln/>
        </p:spPr>
      </p:sp>
      <p:sp>
        <p:nvSpPr>
          <p:cNvPr id="14" name="Text 12"/>
          <p:cNvSpPr/>
          <p:nvPr/>
        </p:nvSpPr>
        <p:spPr>
          <a:xfrm>
            <a:off x="749808" y="35661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3"/>
          <p:cNvSpPr/>
          <p:nvPr/>
        </p:nvSpPr>
        <p:spPr>
          <a:xfrm>
            <a:off x="1417320" y="3310128"/>
            <a:ext cx="4297680" cy="960120"/>
          </a:xfrm>
          <a:prstGeom prst="rect">
            <a:avLst/>
          </a:prstGeom>
          <a:noFill/>
          <a:ln/>
        </p:spPr>
        <p:txBody>
          <a:bodyPr wrap="square" lIns="0" tIns="0" rIns="0" bIns="0" rtlCol="0" anchor="ctr"/>
          <a:lstStyle/>
          <a:p>
            <a:pPr marL="0" indent="0">
              <a:lnSpc>
                <a:spcPct val="115000"/>
              </a:lnSpc>
              <a:buNone/>
            </a:pPr>
            <a:r>
              <a:rPr lang="en-US" sz="1300" dirty="0">
                <a:solidFill>
                  <a:srgbClr val="333333"/>
                </a:solidFill>
                <a:latin typeface="Calibri" pitchFamily="34" charset="0"/>
                <a:ea typeface="Calibri" pitchFamily="34" charset="-122"/>
                <a:cs typeface="Calibri" pitchFamily="34" charset="-120"/>
              </a:rPr>
              <a:t>Notifications par courrier électronique</a:t>
            </a:r>
            <a:endParaRPr lang="en-US" sz="1300" dirty="0"/>
          </a:p>
        </p:txBody>
      </p:sp>
      <p:sp>
        <p:nvSpPr>
          <p:cNvPr id="16" name="Shape 14"/>
          <p:cNvSpPr/>
          <p:nvPr/>
        </p:nvSpPr>
        <p:spPr>
          <a:xfrm>
            <a:off x="6172200" y="3200400"/>
            <a:ext cx="5349240" cy="1188720"/>
          </a:xfrm>
          <a:prstGeom prst="roundRect">
            <a:avLst>
              <a:gd name="adj" fmla="val 5385"/>
            </a:avLst>
          </a:prstGeom>
          <a:solidFill>
            <a:srgbClr val="FBFAF8"/>
          </a:solidFill>
          <a:ln w="12700">
            <a:solidFill>
              <a:srgbClr val="E3DDD3"/>
            </a:solidFill>
            <a:prstDash val="solid"/>
          </a:ln>
        </p:spPr>
      </p:sp>
      <p:sp>
        <p:nvSpPr>
          <p:cNvPr id="17" name="Shape 15"/>
          <p:cNvSpPr/>
          <p:nvPr/>
        </p:nvSpPr>
        <p:spPr>
          <a:xfrm>
            <a:off x="6373368" y="3566160"/>
            <a:ext cx="457200" cy="457200"/>
          </a:xfrm>
          <a:prstGeom prst="ellipse">
            <a:avLst/>
          </a:prstGeom>
          <a:solidFill>
            <a:srgbClr val="6E2C2C"/>
          </a:solidFill>
          <a:ln/>
        </p:spPr>
      </p:sp>
      <p:sp>
        <p:nvSpPr>
          <p:cNvPr id="18" name="Text 16"/>
          <p:cNvSpPr/>
          <p:nvPr/>
        </p:nvSpPr>
        <p:spPr>
          <a:xfrm>
            <a:off x="6373368" y="35661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9" name="Text 17"/>
          <p:cNvSpPr/>
          <p:nvPr/>
        </p:nvSpPr>
        <p:spPr>
          <a:xfrm>
            <a:off x="7040880" y="3310128"/>
            <a:ext cx="4297680" cy="960120"/>
          </a:xfrm>
          <a:prstGeom prst="rect">
            <a:avLst/>
          </a:prstGeom>
          <a:noFill/>
          <a:ln/>
        </p:spPr>
        <p:txBody>
          <a:bodyPr wrap="square" lIns="0" tIns="0" rIns="0" bIns="0" rtlCol="0" anchor="ctr"/>
          <a:lstStyle/>
          <a:p>
            <a:pPr marL="0" indent="0">
              <a:lnSpc>
                <a:spcPct val="115000"/>
              </a:lnSpc>
              <a:buNone/>
            </a:pPr>
            <a:r>
              <a:rPr lang="en-US" sz="1300" dirty="0">
                <a:solidFill>
                  <a:srgbClr val="333333"/>
                </a:solidFill>
                <a:latin typeface="Calibri" pitchFamily="34" charset="0"/>
                <a:ea typeface="Calibri" pitchFamily="34" charset="-122"/>
                <a:cs typeface="Calibri" pitchFamily="34" charset="-120"/>
              </a:rPr>
              <a:t>API REST dédiée pour un client mobile</a:t>
            </a:r>
            <a:endParaRPr lang="en-US" sz="1300" dirty="0"/>
          </a:p>
        </p:txBody>
      </p:sp>
      <p:sp>
        <p:nvSpPr>
          <p:cNvPr id="20" name="Shape 18"/>
          <p:cNvSpPr/>
          <p:nvPr/>
        </p:nvSpPr>
        <p:spPr>
          <a:xfrm>
            <a:off x="548640" y="4617720"/>
            <a:ext cx="5349240" cy="1188720"/>
          </a:xfrm>
          <a:prstGeom prst="roundRect">
            <a:avLst>
              <a:gd name="adj" fmla="val 5385"/>
            </a:avLst>
          </a:prstGeom>
          <a:solidFill>
            <a:srgbClr val="FBFAF8"/>
          </a:solidFill>
          <a:ln w="12700">
            <a:solidFill>
              <a:srgbClr val="E3DDD3"/>
            </a:solidFill>
            <a:prstDash val="solid"/>
          </a:ln>
        </p:spPr>
      </p:sp>
      <p:sp>
        <p:nvSpPr>
          <p:cNvPr id="21" name="Shape 19"/>
          <p:cNvSpPr/>
          <p:nvPr/>
        </p:nvSpPr>
        <p:spPr>
          <a:xfrm>
            <a:off x="749808" y="4983480"/>
            <a:ext cx="457200" cy="457200"/>
          </a:xfrm>
          <a:prstGeom prst="ellipse">
            <a:avLst/>
          </a:prstGeom>
          <a:solidFill>
            <a:srgbClr val="6E2C2C"/>
          </a:solidFill>
          <a:ln/>
        </p:spPr>
      </p:sp>
      <p:sp>
        <p:nvSpPr>
          <p:cNvPr id="22" name="Text 20"/>
          <p:cNvSpPr/>
          <p:nvPr/>
        </p:nvSpPr>
        <p:spPr>
          <a:xfrm>
            <a:off x="749808" y="4983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3" name="Text 21"/>
          <p:cNvSpPr/>
          <p:nvPr/>
        </p:nvSpPr>
        <p:spPr>
          <a:xfrm>
            <a:off x="1417320" y="4727448"/>
            <a:ext cx="4297680" cy="960120"/>
          </a:xfrm>
          <a:prstGeom prst="rect">
            <a:avLst/>
          </a:prstGeom>
          <a:noFill/>
          <a:ln/>
        </p:spPr>
        <p:txBody>
          <a:bodyPr wrap="square" lIns="0" tIns="0" rIns="0" bIns="0" rtlCol="0" anchor="ctr"/>
          <a:lstStyle/>
          <a:p>
            <a:pPr marL="0" indent="0">
              <a:lnSpc>
                <a:spcPct val="115000"/>
              </a:lnSpc>
              <a:buNone/>
            </a:pPr>
            <a:r>
              <a:rPr lang="en-US" sz="1300" dirty="0">
                <a:solidFill>
                  <a:srgbClr val="333333"/>
                </a:solidFill>
                <a:latin typeface="Calibri" pitchFamily="34" charset="0"/>
                <a:ea typeface="Calibri" pitchFamily="34" charset="-122"/>
                <a:cs typeface="Calibri" pitchFamily="34" charset="-120"/>
              </a:rPr>
              <a:t>Suite de tests automatisés (JUnit, Mockito)</a:t>
            </a:r>
            <a:endParaRPr lang="en-US" sz="1300" dirty="0"/>
          </a:p>
        </p:txBody>
      </p:sp>
      <p:sp>
        <p:nvSpPr>
          <p:cNvPr id="24" name="Shape 22"/>
          <p:cNvSpPr/>
          <p:nvPr/>
        </p:nvSpPr>
        <p:spPr>
          <a:xfrm>
            <a:off x="6172200" y="4617720"/>
            <a:ext cx="5349240" cy="1188720"/>
          </a:xfrm>
          <a:prstGeom prst="roundRect">
            <a:avLst>
              <a:gd name="adj" fmla="val 5385"/>
            </a:avLst>
          </a:prstGeom>
          <a:solidFill>
            <a:srgbClr val="FBFAF8"/>
          </a:solidFill>
          <a:ln w="12700">
            <a:solidFill>
              <a:srgbClr val="E3DDD3"/>
            </a:solidFill>
            <a:prstDash val="solid"/>
          </a:ln>
        </p:spPr>
      </p:sp>
      <p:sp>
        <p:nvSpPr>
          <p:cNvPr id="25" name="Shape 23"/>
          <p:cNvSpPr/>
          <p:nvPr/>
        </p:nvSpPr>
        <p:spPr>
          <a:xfrm>
            <a:off x="6373368" y="4983480"/>
            <a:ext cx="457200" cy="457200"/>
          </a:xfrm>
          <a:prstGeom prst="ellipse">
            <a:avLst/>
          </a:prstGeom>
          <a:solidFill>
            <a:srgbClr val="6E2C2C"/>
          </a:solidFill>
          <a:ln/>
        </p:spPr>
      </p:sp>
      <p:sp>
        <p:nvSpPr>
          <p:cNvPr id="26" name="Text 24"/>
          <p:cNvSpPr/>
          <p:nvPr/>
        </p:nvSpPr>
        <p:spPr>
          <a:xfrm>
            <a:off x="6373368" y="4983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7" name="Text 25"/>
          <p:cNvSpPr/>
          <p:nvPr/>
        </p:nvSpPr>
        <p:spPr>
          <a:xfrm>
            <a:off x="7040880" y="4727448"/>
            <a:ext cx="4297680" cy="960120"/>
          </a:xfrm>
          <a:prstGeom prst="rect">
            <a:avLst/>
          </a:prstGeom>
          <a:noFill/>
          <a:ln/>
        </p:spPr>
        <p:txBody>
          <a:bodyPr wrap="square" lIns="0" tIns="0" rIns="0" bIns="0" rtlCol="0" anchor="ctr"/>
          <a:lstStyle/>
          <a:p>
            <a:pPr marL="0" indent="0">
              <a:lnSpc>
                <a:spcPct val="115000"/>
              </a:lnSpc>
              <a:buNone/>
            </a:pPr>
            <a:r>
              <a:rPr lang="en-US" sz="1300" dirty="0">
                <a:solidFill>
                  <a:srgbClr val="333333"/>
                </a:solidFill>
                <a:latin typeface="Calibri" pitchFamily="34" charset="0"/>
                <a:ea typeface="Calibri" pitchFamily="34" charset="-122"/>
                <a:cs typeface="Calibri" pitchFamily="34" charset="-120"/>
              </a:rPr>
              <a:t>Exports de statistiques (PDF, Excel)</a:t>
            </a:r>
            <a:endParaRPr lang="en-US" sz="1300" dirty="0"/>
          </a:p>
        </p:txBody>
      </p:sp>
      <p:sp>
        <p:nvSpPr>
          <p:cNvPr id="28" name="Text 26"/>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CitizenConnect</a:t>
            </a:r>
            <a:endParaRPr lang="en-US" sz="900" dirty="0"/>
          </a:p>
        </p:txBody>
      </p:sp>
      <p:sp>
        <p:nvSpPr>
          <p:cNvPr id="29" name="Text 2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D1717"/>
        </a:solidFill>
        <a:effectLst/>
      </p:bgPr>
    </p:bg>
    <p:spTree>
      <p:nvGrpSpPr>
        <p:cNvPr id="1" name=""/>
        <p:cNvGrpSpPr/>
        <p:nvPr/>
      </p:nvGrpSpPr>
      <p:grpSpPr>
        <a:xfrm>
          <a:off x="0" y="0"/>
          <a:ext cx="0" cy="0"/>
          <a:chOff x="0" y="0"/>
          <a:chExt cx="0" cy="0"/>
        </a:xfrm>
      </p:grpSpPr>
      <p:sp>
        <p:nvSpPr>
          <p:cNvPr id="2" name="Shape 0"/>
          <p:cNvSpPr/>
          <p:nvPr/>
        </p:nvSpPr>
        <p:spPr>
          <a:xfrm>
            <a:off x="-2560320" y="-2286000"/>
            <a:ext cx="5943600" cy="5943600"/>
          </a:xfrm>
          <a:prstGeom prst="ellipse">
            <a:avLst/>
          </a:prstGeom>
          <a:solidFill>
            <a:srgbClr val="6E2C2C"/>
          </a:solidFill>
          <a:ln/>
        </p:spPr>
      </p:sp>
      <p:sp>
        <p:nvSpPr>
          <p:cNvPr id="3" name="Text 1"/>
          <p:cNvSpPr/>
          <p:nvPr/>
        </p:nvSpPr>
        <p:spPr>
          <a:xfrm>
            <a:off x="822960" y="1371600"/>
            <a:ext cx="5486400" cy="365760"/>
          </a:xfrm>
          <a:prstGeom prst="rect">
            <a:avLst/>
          </a:prstGeom>
          <a:noFill/>
          <a:ln/>
        </p:spPr>
        <p:txBody>
          <a:bodyPr wrap="square" lIns="0" tIns="0" rIns="0" bIns="0" rtlCol="0" anchor="ctr"/>
          <a:lstStyle/>
          <a:p>
            <a:pPr marL="0" indent="0">
              <a:buNone/>
            </a:pPr>
            <a:r>
              <a:rPr lang="en-US" sz="1300" b="1" kern="0" spc="200" dirty="0">
                <a:solidFill>
                  <a:srgbClr val="B8863F"/>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822960" y="1828800"/>
            <a:ext cx="9875520" cy="1463040"/>
          </a:xfrm>
          <a:prstGeom prst="rect">
            <a:avLst/>
          </a:prstGeom>
          <a:noFill/>
          <a:ln/>
        </p:spPr>
        <p:txBody>
          <a:bodyPr wrap="square" lIns="0" tIns="0" rIns="0" bIns="0" rtlCol="0" anchor="ctr"/>
          <a:lstStyle/>
          <a:p>
            <a:pPr marL="0" indent="0">
              <a:lnSpc>
                <a:spcPct val="125000"/>
              </a:lnSpc>
              <a:buNone/>
            </a:pPr>
            <a:r>
              <a:rPr lang="en-US" sz="2700" b="1" dirty="0">
                <a:solidFill>
                  <a:srgbClr val="FFFFFF"/>
                </a:solidFill>
                <a:latin typeface="Cambria" pitchFamily="34" charset="0"/>
                <a:ea typeface="Cambria" pitchFamily="34" charset="-122"/>
                <a:cs typeface="Cambria" pitchFamily="34" charset="-120"/>
              </a:rPr>
              <a:t>CitizenConnect met en pratique une architecture Spring complète et sécurisée, de l'analyse des besoins jusqu'à une plateforme fonctionnelle pour trois profils d'utilisateurs distincts.</a:t>
            </a:r>
            <a:endParaRPr lang="en-US" sz="2700" dirty="0"/>
          </a:p>
        </p:txBody>
      </p:sp>
      <p:sp>
        <p:nvSpPr>
          <p:cNvPr id="5" name="Text 3"/>
          <p:cNvSpPr/>
          <p:nvPr/>
        </p:nvSpPr>
        <p:spPr>
          <a:xfrm>
            <a:off x="822960" y="3931920"/>
            <a:ext cx="1828800" cy="914400"/>
          </a:xfrm>
          <a:prstGeom prst="rect">
            <a:avLst/>
          </a:prstGeom>
          <a:noFill/>
          <a:ln/>
        </p:spPr>
        <p:txBody>
          <a:bodyPr wrap="square" lIns="0" tIns="0" rIns="0" bIns="0" rtlCol="0" anchor="ctr"/>
          <a:lstStyle/>
          <a:p>
            <a:pPr marL="0" indent="0">
              <a:buNone/>
            </a:pPr>
            <a:r>
              <a:rPr lang="en-US" sz="5400" b="1" dirty="0">
                <a:solidFill>
                  <a:srgbClr val="B8863F"/>
                </a:solidFill>
                <a:latin typeface="Cambria" pitchFamily="34" charset="0"/>
                <a:ea typeface="Cambria" pitchFamily="34" charset="-122"/>
                <a:cs typeface="Cambria" pitchFamily="34" charset="-120"/>
              </a:rPr>
              <a:t>7</a:t>
            </a:r>
            <a:endParaRPr lang="en-US" sz="5400" dirty="0"/>
          </a:p>
        </p:txBody>
      </p:sp>
      <p:sp>
        <p:nvSpPr>
          <p:cNvPr id="6" name="Text 4"/>
          <p:cNvSpPr/>
          <p:nvPr/>
        </p:nvSpPr>
        <p:spPr>
          <a:xfrm>
            <a:off x="822960" y="4800600"/>
            <a:ext cx="3108960" cy="457200"/>
          </a:xfrm>
          <a:prstGeom prst="rect">
            <a:avLst/>
          </a:prstGeom>
          <a:noFill/>
          <a:ln/>
        </p:spPr>
        <p:txBody>
          <a:bodyPr wrap="square" lIns="0" tIns="0" rIns="0" bIns="0" rtlCol="0" anchor="ctr"/>
          <a:lstStyle/>
          <a:p>
            <a:pPr marL="0" indent="0">
              <a:buNone/>
            </a:pPr>
            <a:r>
              <a:rPr lang="en-US" sz="1400" dirty="0">
                <a:solidFill>
                  <a:srgbClr val="EFE6DD"/>
                </a:solidFill>
                <a:latin typeface="Calibri" pitchFamily="34" charset="0"/>
                <a:ea typeface="Calibri" pitchFamily="34" charset="-122"/>
                <a:cs typeface="Calibri" pitchFamily="34" charset="-120"/>
              </a:rPr>
              <a:t>entités du domaine</a:t>
            </a:r>
            <a:endParaRPr lang="en-US" sz="1400" dirty="0"/>
          </a:p>
        </p:txBody>
      </p:sp>
      <p:sp>
        <p:nvSpPr>
          <p:cNvPr id="7" name="Text 5"/>
          <p:cNvSpPr/>
          <p:nvPr/>
        </p:nvSpPr>
        <p:spPr>
          <a:xfrm>
            <a:off x="4389120" y="3931920"/>
            <a:ext cx="1828800" cy="914400"/>
          </a:xfrm>
          <a:prstGeom prst="rect">
            <a:avLst/>
          </a:prstGeom>
          <a:noFill/>
          <a:ln/>
        </p:spPr>
        <p:txBody>
          <a:bodyPr wrap="square" lIns="0" tIns="0" rIns="0" bIns="0" rtlCol="0" anchor="ctr"/>
          <a:lstStyle/>
          <a:p>
            <a:pPr marL="0" indent="0">
              <a:buNone/>
            </a:pPr>
            <a:r>
              <a:rPr lang="en-US" sz="5400" b="1" dirty="0">
                <a:solidFill>
                  <a:srgbClr val="B8863F"/>
                </a:solidFill>
                <a:latin typeface="Cambria" pitchFamily="34" charset="0"/>
                <a:ea typeface="Cambria" pitchFamily="34" charset="-122"/>
                <a:cs typeface="Cambria" pitchFamily="34" charset="-120"/>
              </a:rPr>
              <a:t>3</a:t>
            </a:r>
            <a:endParaRPr lang="en-US" sz="5400" dirty="0"/>
          </a:p>
        </p:txBody>
      </p:sp>
      <p:sp>
        <p:nvSpPr>
          <p:cNvPr id="8" name="Text 6"/>
          <p:cNvSpPr/>
          <p:nvPr/>
        </p:nvSpPr>
        <p:spPr>
          <a:xfrm>
            <a:off x="4389120" y="4800600"/>
            <a:ext cx="3108960" cy="457200"/>
          </a:xfrm>
          <a:prstGeom prst="rect">
            <a:avLst/>
          </a:prstGeom>
          <a:noFill/>
          <a:ln/>
        </p:spPr>
        <p:txBody>
          <a:bodyPr wrap="square" lIns="0" tIns="0" rIns="0" bIns="0" rtlCol="0" anchor="ctr"/>
          <a:lstStyle/>
          <a:p>
            <a:pPr marL="0" indent="0">
              <a:buNone/>
            </a:pPr>
            <a:r>
              <a:rPr lang="en-US" sz="1400" dirty="0">
                <a:solidFill>
                  <a:srgbClr val="EFE6DD"/>
                </a:solidFill>
                <a:latin typeface="Calibri" pitchFamily="34" charset="0"/>
                <a:ea typeface="Calibri" pitchFamily="34" charset="-122"/>
                <a:cs typeface="Calibri" pitchFamily="34" charset="-120"/>
              </a:rPr>
              <a:t>rôles applicatifs</a:t>
            </a:r>
            <a:endParaRPr lang="en-US" sz="1400" dirty="0"/>
          </a:p>
        </p:txBody>
      </p:sp>
      <p:sp>
        <p:nvSpPr>
          <p:cNvPr id="9" name="Text 7"/>
          <p:cNvSpPr/>
          <p:nvPr/>
        </p:nvSpPr>
        <p:spPr>
          <a:xfrm>
            <a:off x="7955280" y="3931920"/>
            <a:ext cx="1828800" cy="914400"/>
          </a:xfrm>
          <a:prstGeom prst="rect">
            <a:avLst/>
          </a:prstGeom>
          <a:noFill/>
          <a:ln/>
        </p:spPr>
        <p:txBody>
          <a:bodyPr wrap="square" lIns="0" tIns="0" rIns="0" bIns="0" rtlCol="0" anchor="ctr"/>
          <a:lstStyle/>
          <a:p>
            <a:pPr marL="0" indent="0">
              <a:buNone/>
            </a:pPr>
            <a:r>
              <a:rPr lang="en-US" sz="5400" b="1" dirty="0">
                <a:solidFill>
                  <a:srgbClr val="B8863F"/>
                </a:solidFill>
                <a:latin typeface="Cambria" pitchFamily="34" charset="0"/>
                <a:ea typeface="Cambria" pitchFamily="34" charset="-122"/>
                <a:cs typeface="Cambria" pitchFamily="34" charset="-120"/>
              </a:rPr>
              <a:t>3</a:t>
            </a:r>
            <a:endParaRPr lang="en-US" sz="5400" dirty="0"/>
          </a:p>
        </p:txBody>
      </p:sp>
      <p:sp>
        <p:nvSpPr>
          <p:cNvPr id="10" name="Text 8"/>
          <p:cNvSpPr/>
          <p:nvPr/>
        </p:nvSpPr>
        <p:spPr>
          <a:xfrm>
            <a:off x="7955280" y="4800600"/>
            <a:ext cx="3108960" cy="457200"/>
          </a:xfrm>
          <a:prstGeom prst="rect">
            <a:avLst/>
          </a:prstGeom>
          <a:noFill/>
          <a:ln/>
        </p:spPr>
        <p:txBody>
          <a:bodyPr wrap="square" lIns="0" tIns="0" rIns="0" bIns="0" rtlCol="0" anchor="ctr"/>
          <a:lstStyle/>
          <a:p>
            <a:pPr marL="0" indent="0">
              <a:buNone/>
            </a:pPr>
            <a:r>
              <a:rPr lang="en-US" sz="1400" dirty="0">
                <a:solidFill>
                  <a:srgbClr val="EFE6DD"/>
                </a:solidFill>
                <a:latin typeface="Calibri" pitchFamily="34" charset="0"/>
                <a:ea typeface="Calibri" pitchFamily="34" charset="-122"/>
                <a:cs typeface="Calibri" pitchFamily="34" charset="-120"/>
              </a:rPr>
              <a:t>niveaux de contrôle d'accès</a:t>
            </a:r>
            <a:endParaRPr lang="en-US" sz="1400" dirty="0"/>
          </a:p>
        </p:txBody>
      </p:sp>
      <p:sp>
        <p:nvSpPr>
          <p:cNvPr id="11" name="Text 9"/>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CitizenConnect</a:t>
            </a:r>
            <a:endParaRPr lang="en-US" sz="900" dirty="0"/>
          </a:p>
        </p:txBody>
      </p:sp>
      <p:sp>
        <p:nvSpPr>
          <p:cNvPr id="12" name="Text 1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D1717"/>
        </a:solidFill>
        <a:effectLst/>
      </p:bgPr>
    </p:bg>
    <p:spTree>
      <p:nvGrpSpPr>
        <p:cNvPr id="1" name=""/>
        <p:cNvGrpSpPr/>
        <p:nvPr/>
      </p:nvGrpSpPr>
      <p:grpSpPr>
        <a:xfrm>
          <a:off x="0" y="0"/>
          <a:ext cx="0" cy="0"/>
          <a:chOff x="0" y="0"/>
          <a:chExt cx="0" cy="0"/>
        </a:xfrm>
      </p:grpSpPr>
      <p:sp>
        <p:nvSpPr>
          <p:cNvPr id="2" name="Shape 0"/>
          <p:cNvSpPr/>
          <p:nvPr/>
        </p:nvSpPr>
        <p:spPr>
          <a:xfrm>
            <a:off x="8961120" y="3840480"/>
            <a:ext cx="5486400" cy="5486400"/>
          </a:xfrm>
          <a:prstGeom prst="ellipse">
            <a:avLst/>
          </a:prstGeom>
          <a:solidFill>
            <a:srgbClr val="6E2C2C"/>
          </a:solidFill>
          <a:ln/>
        </p:spPr>
      </p:sp>
      <p:sp>
        <p:nvSpPr>
          <p:cNvPr id="3" name="Shape 1"/>
          <p:cNvSpPr/>
          <p:nvPr/>
        </p:nvSpPr>
        <p:spPr>
          <a:xfrm>
            <a:off x="-1371600" y="-1828800"/>
            <a:ext cx="3657600" cy="3657600"/>
          </a:xfrm>
          <a:prstGeom prst="ellipse">
            <a:avLst/>
          </a:prstGeom>
          <a:solidFill>
            <a:srgbClr val="552121"/>
          </a:solidFill>
          <a:ln/>
        </p:spPr>
      </p:sp>
      <p:sp>
        <p:nvSpPr>
          <p:cNvPr id="4" name="Text 2"/>
          <p:cNvSpPr/>
          <p:nvPr/>
        </p:nvSpPr>
        <p:spPr>
          <a:xfrm>
            <a:off x="822960" y="2651760"/>
            <a:ext cx="10515600" cy="10058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Merci de votre attention</a:t>
            </a:r>
            <a:endParaRPr lang="en-US" sz="4600" dirty="0"/>
          </a:p>
        </p:txBody>
      </p:sp>
      <p:sp>
        <p:nvSpPr>
          <p:cNvPr id="5" name="Text 3"/>
          <p:cNvSpPr/>
          <p:nvPr/>
        </p:nvSpPr>
        <p:spPr>
          <a:xfrm>
            <a:off x="822960" y="3611880"/>
            <a:ext cx="7315200" cy="640080"/>
          </a:xfrm>
          <a:prstGeom prst="rect">
            <a:avLst/>
          </a:prstGeom>
          <a:noFill/>
          <a:ln/>
        </p:spPr>
        <p:txBody>
          <a:bodyPr wrap="square" lIns="0" tIns="0" rIns="0" bIns="0" rtlCol="0" anchor="ctr"/>
          <a:lstStyle/>
          <a:p>
            <a:pPr marL="0" indent="0">
              <a:buNone/>
            </a:pPr>
            <a:r>
              <a:rPr lang="en-US" sz="2000" i="1" dirty="0">
                <a:solidFill>
                  <a:srgbClr val="EFE6DD"/>
                </a:solidFill>
                <a:latin typeface="Calibri" pitchFamily="34" charset="0"/>
                <a:ea typeface="Calibri" pitchFamily="34" charset="-122"/>
                <a:cs typeface="Calibri" pitchFamily="34" charset="-120"/>
              </a:rPr>
              <a:t>Questions ?</a:t>
            </a:r>
            <a:endParaRPr lang="en-US" sz="2000" dirty="0"/>
          </a:p>
        </p:txBody>
      </p:sp>
      <p:sp>
        <p:nvSpPr>
          <p:cNvPr id="6" name="Shape 4"/>
          <p:cNvSpPr/>
          <p:nvPr/>
        </p:nvSpPr>
        <p:spPr>
          <a:xfrm>
            <a:off x="868680" y="4434840"/>
            <a:ext cx="2377440" cy="0"/>
          </a:xfrm>
          <a:prstGeom prst="line">
            <a:avLst/>
          </a:prstGeom>
          <a:noFill/>
          <a:ln w="25400">
            <a:solidFill>
              <a:srgbClr val="B8863F"/>
            </a:solidFill>
            <a:prstDash val="solid"/>
          </a:ln>
        </p:spPr>
      </p:sp>
      <p:sp>
        <p:nvSpPr>
          <p:cNvPr id="7" name="Text 5"/>
          <p:cNvSpPr/>
          <p:nvPr/>
        </p:nvSpPr>
        <p:spPr>
          <a:xfrm>
            <a:off x="822960" y="6309360"/>
            <a:ext cx="10058400" cy="365760"/>
          </a:xfrm>
          <a:prstGeom prst="rect">
            <a:avLst/>
          </a:prstGeom>
          <a:noFill/>
          <a:ln/>
        </p:spPr>
        <p:txBody>
          <a:bodyPr wrap="square" lIns="0" tIns="0" rIns="0" bIns="0" rtlCol="0" anchor="ctr"/>
          <a:lstStyle/>
          <a:p>
            <a:pPr marL="0" indent="0">
              <a:buNone/>
            </a:pPr>
            <a:r>
              <a:rPr lang="en-US" sz="1100" dirty="0">
                <a:solidFill>
                  <a:srgbClr val="EFE6DD"/>
                </a:solidFill>
                <a:latin typeface="Calibri" pitchFamily="34" charset="0"/>
                <a:ea typeface="Calibri" pitchFamily="34" charset="-122"/>
                <a:cs typeface="Calibri" pitchFamily="34" charset="-120"/>
              </a:rPr>
              <a:t>CitizenConnect — Projet de Fin de Module — Licence Professionnelle FDWJEE — ENSAF</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1044</Words>
  <Application>Microsoft Macintosh PowerPoint</Application>
  <PresentationFormat>Widescreen</PresentationFormat>
  <Paragraphs>259</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Pro</cp:lastModifiedBy>
  <cp:revision>2</cp:revision>
  <dcterms:created xsi:type="dcterms:W3CDTF">2026-07-22T13:51:34Z</dcterms:created>
  <dcterms:modified xsi:type="dcterms:W3CDTF">2026-07-22T21:10:01Z</dcterms:modified>
</cp:coreProperties>
</file>